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5" r:id="rId5"/>
    <p:sldId id="276" r:id="rId6"/>
    <p:sldId id="277" r:id="rId7"/>
    <p:sldId id="278" r:id="rId8"/>
    <p:sldId id="279" r:id="rId9"/>
    <p:sldId id="280" r:id="rId10"/>
    <p:sldId id="259" r:id="rId11"/>
    <p:sldId id="281" r:id="rId12"/>
    <p:sldId id="282" r:id="rId13"/>
    <p:sldId id="262" r:id="rId14"/>
    <p:sldId id="284" r:id="rId15"/>
    <p:sldId id="285" r:id="rId16"/>
    <p:sldId id="267" r:id="rId17"/>
    <p:sldId id="286" r:id="rId18"/>
    <p:sldId id="263" r:id="rId19"/>
    <p:sldId id="264" r:id="rId20"/>
    <p:sldId id="265" r:id="rId21"/>
    <p:sldId id="287" r:id="rId22"/>
    <p:sldId id="266" r:id="rId23"/>
    <p:sldId id="288" r:id="rId24"/>
    <p:sldId id="289" r:id="rId25"/>
    <p:sldId id="290" r:id="rId26"/>
    <p:sldId id="291" r:id="rId27"/>
    <p:sldId id="292" r:id="rId28"/>
    <p:sldId id="293" r:id="rId29"/>
    <p:sldId id="294" r:id="rId30"/>
    <p:sldId id="295" r:id="rId31"/>
    <p:sldId id="272" r:id="rId32"/>
    <p:sldId id="273" r:id="rId33"/>
    <p:sldId id="260" r:id="rId34"/>
    <p:sldId id="296" r:id="rId35"/>
  </p:sldIdLst>
  <p:sldSz cx="9144000" cy="5143500" type="screen16x9"/>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64" d="100"/>
          <a:sy n="164" d="100"/>
        </p:scale>
        <p:origin x="-114"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x-none"/>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97FC8F06-63FA-4A7A-8DA7-143072DA99D7}" type="datetimeFigureOut">
              <a:rPr lang="x-none" smtClean="0"/>
              <a:t>9/2/2025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78260A6-9E4B-4A63-AECA-5E04EAA6E768}" type="slidenum">
              <a:rPr lang="x-none" smtClean="0"/>
              <a:t>‹#›</a:t>
            </a:fld>
            <a:endParaRPr lang="x-none"/>
          </a:p>
        </p:txBody>
      </p:sp>
    </p:spTree>
    <p:extLst>
      <p:ext uri="{BB962C8B-B14F-4D97-AF65-F5344CB8AC3E}">
        <p14:creationId xmlns:p14="http://schemas.microsoft.com/office/powerpoint/2010/main" val="4436153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97FC8F06-63FA-4A7A-8DA7-143072DA99D7}" type="datetimeFigureOut">
              <a:rPr lang="x-none" smtClean="0"/>
              <a:t>9/2/2025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78260A6-9E4B-4A63-AECA-5E04EAA6E768}" type="slidenum">
              <a:rPr lang="x-none" smtClean="0"/>
              <a:t>‹#›</a:t>
            </a:fld>
            <a:endParaRPr lang="x-none"/>
          </a:p>
        </p:txBody>
      </p:sp>
    </p:spTree>
    <p:extLst>
      <p:ext uri="{BB962C8B-B14F-4D97-AF65-F5344CB8AC3E}">
        <p14:creationId xmlns:p14="http://schemas.microsoft.com/office/powerpoint/2010/main" val="2198302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x-none"/>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FC8F06-63FA-4A7A-8DA7-143072DA99D7}" type="datetimeFigureOut">
              <a:rPr lang="x-none" smtClean="0"/>
              <a:t>9/2/2025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78260A6-9E4B-4A63-AECA-5E04EAA6E768}" type="slidenum">
              <a:rPr lang="x-none" smtClean="0"/>
              <a:t>‹#›</a:t>
            </a:fld>
            <a:endParaRPr lang="x-none"/>
          </a:p>
        </p:txBody>
      </p:sp>
    </p:spTree>
    <p:extLst>
      <p:ext uri="{BB962C8B-B14F-4D97-AF65-F5344CB8AC3E}">
        <p14:creationId xmlns:p14="http://schemas.microsoft.com/office/powerpoint/2010/main" val="1882830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p:cNvSpPr>
            <a:spLocks noGrp="1"/>
          </p:cNvSpPr>
          <p:nvPr>
            <p:ph type="dt" sz="half" idx="10"/>
          </p:nvPr>
        </p:nvSpPr>
        <p:spPr/>
        <p:txBody>
          <a:bodyPr/>
          <a:lstStyle/>
          <a:p>
            <a:fld id="{97FC8F06-63FA-4A7A-8DA7-143072DA99D7}" type="datetimeFigureOut">
              <a:rPr lang="x-none" smtClean="0"/>
              <a:t>9/2/2025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478260A6-9E4B-4A63-AECA-5E04EAA6E768}" type="slidenum">
              <a:rPr lang="x-none" smtClean="0"/>
              <a:t>‹#›</a:t>
            </a:fld>
            <a:endParaRPr lang="x-none"/>
          </a:p>
        </p:txBody>
      </p:sp>
    </p:spTree>
    <p:extLst>
      <p:ext uri="{BB962C8B-B14F-4D97-AF65-F5344CB8AC3E}">
        <p14:creationId xmlns:p14="http://schemas.microsoft.com/office/powerpoint/2010/main" val="2278143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endParaRPr lang="x-none"/>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p:cNvSpPr>
            <a:spLocks noGrp="1"/>
          </p:cNvSpPr>
          <p:nvPr>
            <p:ph type="dt" sz="half" idx="10"/>
          </p:nvPr>
        </p:nvSpPr>
        <p:spPr/>
        <p:txBody>
          <a:bodyPr/>
          <a:lstStyle/>
          <a:p>
            <a:fld id="{97FC8F06-63FA-4A7A-8DA7-143072DA99D7}" type="datetimeFigureOut">
              <a:rPr lang="x-none" smtClean="0"/>
              <a:t>9/2/2025</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478260A6-9E4B-4A63-AECA-5E04EAA6E768}" type="slidenum">
              <a:rPr lang="x-none" smtClean="0"/>
              <a:t>‹#›</a:t>
            </a:fld>
            <a:endParaRPr lang="x-none"/>
          </a:p>
        </p:txBody>
      </p:sp>
    </p:spTree>
    <p:extLst>
      <p:ext uri="{BB962C8B-B14F-4D97-AF65-F5344CB8AC3E}">
        <p14:creationId xmlns:p14="http://schemas.microsoft.com/office/powerpoint/2010/main" val="36543061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97FC8F06-63FA-4A7A-8DA7-143072DA99D7}" type="datetimeFigureOut">
              <a:rPr lang="x-none" smtClean="0"/>
              <a:t>9/2/2025</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478260A6-9E4B-4A63-AECA-5E04EAA6E768}" type="slidenum">
              <a:rPr lang="x-none" smtClean="0"/>
              <a:t>‹#›</a:t>
            </a:fld>
            <a:endParaRPr lang="x-none"/>
          </a:p>
        </p:txBody>
      </p:sp>
    </p:spTree>
    <p:extLst>
      <p:ext uri="{BB962C8B-B14F-4D97-AF65-F5344CB8AC3E}">
        <p14:creationId xmlns:p14="http://schemas.microsoft.com/office/powerpoint/2010/main" val="3079461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FC8F06-63FA-4A7A-8DA7-143072DA99D7}" type="datetimeFigureOut">
              <a:rPr lang="x-none" smtClean="0"/>
              <a:t>9/2/2025</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478260A6-9E4B-4A63-AECA-5E04EAA6E768}" type="slidenum">
              <a:rPr lang="x-none" smtClean="0"/>
              <a:t>‹#›</a:t>
            </a:fld>
            <a:endParaRPr lang="x-none"/>
          </a:p>
        </p:txBody>
      </p:sp>
    </p:spTree>
    <p:extLst>
      <p:ext uri="{BB962C8B-B14F-4D97-AF65-F5344CB8AC3E}">
        <p14:creationId xmlns:p14="http://schemas.microsoft.com/office/powerpoint/2010/main" val="3517839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endParaRPr lang="x-none"/>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FC8F06-63FA-4A7A-8DA7-143072DA99D7}" type="datetimeFigureOut">
              <a:rPr lang="x-none" smtClean="0"/>
              <a:t>9/2/2025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478260A6-9E4B-4A63-AECA-5E04EAA6E768}" type="slidenum">
              <a:rPr lang="x-none" smtClean="0"/>
              <a:t>‹#›</a:t>
            </a:fld>
            <a:endParaRPr lang="x-none"/>
          </a:p>
        </p:txBody>
      </p:sp>
    </p:spTree>
    <p:extLst>
      <p:ext uri="{BB962C8B-B14F-4D97-AF65-F5344CB8AC3E}">
        <p14:creationId xmlns:p14="http://schemas.microsoft.com/office/powerpoint/2010/main" val="1253153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x-none"/>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FC8F06-63FA-4A7A-8DA7-143072DA99D7}" type="datetimeFigureOut">
              <a:rPr lang="x-none" smtClean="0"/>
              <a:t>9/2/2025</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478260A6-9E4B-4A63-AECA-5E04EAA6E768}" type="slidenum">
              <a:rPr lang="x-none" smtClean="0"/>
              <a:t>‹#›</a:t>
            </a:fld>
            <a:endParaRPr lang="x-none"/>
          </a:p>
        </p:txBody>
      </p:sp>
    </p:spTree>
    <p:extLst>
      <p:ext uri="{BB962C8B-B14F-4D97-AF65-F5344CB8AC3E}">
        <p14:creationId xmlns:p14="http://schemas.microsoft.com/office/powerpoint/2010/main" val="1574544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97FC8F06-63FA-4A7A-8DA7-143072DA99D7}" type="datetimeFigureOut">
              <a:rPr lang="x-none" smtClean="0"/>
              <a:t>9/2/2025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78260A6-9E4B-4A63-AECA-5E04EAA6E768}" type="slidenum">
              <a:rPr lang="x-none" smtClean="0"/>
              <a:t>‹#›</a:t>
            </a:fld>
            <a:endParaRPr lang="x-none"/>
          </a:p>
        </p:txBody>
      </p:sp>
    </p:spTree>
    <p:extLst>
      <p:ext uri="{BB962C8B-B14F-4D97-AF65-F5344CB8AC3E}">
        <p14:creationId xmlns:p14="http://schemas.microsoft.com/office/powerpoint/2010/main" val="878191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1"/>
            <a:ext cx="2057400" cy="3290888"/>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457200" y="154781"/>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97FC8F06-63FA-4A7A-8DA7-143072DA99D7}" type="datetimeFigureOut">
              <a:rPr lang="x-none" smtClean="0"/>
              <a:t>9/2/2025</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478260A6-9E4B-4A63-AECA-5E04EAA6E768}" type="slidenum">
              <a:rPr lang="x-none" smtClean="0"/>
              <a:t>‹#›</a:t>
            </a:fld>
            <a:endParaRPr lang="x-none"/>
          </a:p>
        </p:txBody>
      </p:sp>
    </p:spTree>
    <p:extLst>
      <p:ext uri="{BB962C8B-B14F-4D97-AF65-F5344CB8AC3E}">
        <p14:creationId xmlns:p14="http://schemas.microsoft.com/office/powerpoint/2010/main" val="4106543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97FC8F06-63FA-4A7A-8DA7-143072DA99D7}" type="datetimeFigureOut">
              <a:rPr lang="x-none" smtClean="0"/>
              <a:t>9/2/2025</a:t>
            </a:fld>
            <a:endParaRPr lang="x-none"/>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478260A6-9E4B-4A63-AECA-5E04EAA6E768}" type="slidenum">
              <a:rPr lang="x-none" smtClean="0"/>
              <a:t>‹#›</a:t>
            </a:fld>
            <a:endParaRPr lang="x-none"/>
          </a:p>
        </p:txBody>
      </p:sp>
    </p:spTree>
    <p:extLst>
      <p:ext uri="{BB962C8B-B14F-4D97-AF65-F5344CB8AC3E}">
        <p14:creationId xmlns:p14="http://schemas.microsoft.com/office/powerpoint/2010/main" val="23815438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render.com/"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eraser.io/"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24008" y="483518"/>
            <a:ext cx="5040560" cy="3046988"/>
          </a:xfrm>
          <a:prstGeom prst="rect">
            <a:avLst/>
          </a:prstGeom>
          <a:noFill/>
        </p:spPr>
        <p:txBody>
          <a:bodyPr wrap="square" rtlCol="0" anchor="ctr">
            <a:spAutoFit/>
          </a:bodyPr>
          <a:lstStyle/>
          <a:p>
            <a:r>
              <a:rPr lang="en-US" sz="3200" b="1" dirty="0" smtClean="0">
                <a:latin typeface="Montserrat Black" panose="00000A00000000000000" pitchFamily="2" charset="0"/>
              </a:rPr>
              <a:t>DEVELOPMENT OF A WEB BASED APLLICATION FOR SEAMLESS EATERY ORDERING AND DELIVERY SERVICES</a:t>
            </a:r>
            <a:endParaRPr lang="x-none" sz="3200" b="1" dirty="0">
              <a:latin typeface="Montserrat Black" panose="00000A00000000000000" pitchFamily="2" charset="0"/>
            </a:endParaRPr>
          </a:p>
        </p:txBody>
      </p:sp>
      <p:sp>
        <p:nvSpPr>
          <p:cNvPr id="6" name="TextBox 5"/>
          <p:cNvSpPr txBox="1"/>
          <p:nvPr/>
        </p:nvSpPr>
        <p:spPr>
          <a:xfrm>
            <a:off x="4024008" y="4011910"/>
            <a:ext cx="4312096" cy="707886"/>
          </a:xfrm>
          <a:prstGeom prst="rect">
            <a:avLst/>
          </a:prstGeom>
          <a:noFill/>
        </p:spPr>
        <p:txBody>
          <a:bodyPr wrap="square" rtlCol="0">
            <a:spAutoFit/>
          </a:bodyPr>
          <a:lstStyle/>
          <a:p>
            <a:r>
              <a:rPr lang="en-US" sz="2000" b="1" dirty="0">
                <a:latin typeface="Montserrat" panose="00000500000000000000" pitchFamily="2" charset="0"/>
              </a:rPr>
              <a:t>By </a:t>
            </a:r>
            <a:r>
              <a:rPr lang="en-US" sz="2000" b="1" dirty="0" err="1" smtClean="0">
                <a:latin typeface="Montserrat" panose="00000500000000000000" pitchFamily="2" charset="0"/>
              </a:rPr>
              <a:t>Okechukwu</a:t>
            </a:r>
            <a:r>
              <a:rPr lang="en-US" sz="2000" b="1" dirty="0" smtClean="0">
                <a:latin typeface="Montserrat" panose="00000500000000000000" pitchFamily="2" charset="0"/>
              </a:rPr>
              <a:t>, Miracle </a:t>
            </a:r>
            <a:r>
              <a:rPr lang="en-US" sz="2000" b="1" dirty="0" err="1" smtClean="0">
                <a:latin typeface="Montserrat" panose="00000500000000000000" pitchFamily="2" charset="0"/>
              </a:rPr>
              <a:t>Oluchi</a:t>
            </a:r>
            <a:endParaRPr lang="en-US" sz="2000" b="1" dirty="0" smtClean="0">
              <a:latin typeface="Montserrat" panose="00000500000000000000" pitchFamily="2" charset="0"/>
            </a:endParaRPr>
          </a:p>
          <a:p>
            <a:r>
              <a:rPr lang="en-US" sz="2000" b="1" dirty="0" smtClean="0">
                <a:latin typeface="Montserrat" panose="00000500000000000000" pitchFamily="2" charset="0"/>
              </a:rPr>
              <a:t>20/SC/CO/1000</a:t>
            </a:r>
            <a:endParaRPr lang="x-none" sz="2000" b="1" dirty="0">
              <a:latin typeface="Montserrat" panose="00000500000000000000" pitchFamily="2"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3919"/>
            <a:ext cx="3989070" cy="4872631"/>
          </a:xfrm>
          <a:prstGeom prst="rect">
            <a:avLst/>
          </a:prstGeom>
        </p:spPr>
      </p:pic>
    </p:spTree>
    <p:extLst>
      <p:ext uri="{BB962C8B-B14F-4D97-AF65-F5344CB8AC3E}">
        <p14:creationId xmlns:p14="http://schemas.microsoft.com/office/powerpoint/2010/main" val="11658164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218708"/>
            <a:ext cx="8640960" cy="4524315"/>
          </a:xfrm>
          <a:prstGeom prst="rect">
            <a:avLst/>
          </a:prstGeom>
          <a:noFill/>
        </p:spPr>
        <p:txBody>
          <a:bodyPr wrap="square" rtlCol="0">
            <a:spAutoFit/>
          </a:bodyPr>
          <a:lstStyle/>
          <a:p>
            <a:pPr algn="ctr"/>
            <a:r>
              <a:rPr lang="en-US" sz="1600" b="1" dirty="0"/>
              <a:t>DEVELOPMENT OF A WEB-BASED APPLICATION FOR SEAMLESS EATERY ORDERING AND DELIVERY SERVICES</a:t>
            </a:r>
            <a:endParaRPr lang="en-US" sz="1600" dirty="0"/>
          </a:p>
          <a:p>
            <a:pPr algn="ctr"/>
            <a:r>
              <a:rPr lang="en-US" sz="1600" dirty="0"/>
              <a:t/>
            </a:r>
            <a:br>
              <a:rPr lang="en-US" sz="1600" dirty="0"/>
            </a:br>
            <a:r>
              <a:rPr lang="en-US" sz="1600" b="1" dirty="0" smtClean="0"/>
              <a:t>BY</a:t>
            </a:r>
            <a:r>
              <a:rPr lang="en-US" sz="1600" b="0" dirty="0">
                <a:effectLst/>
              </a:rPr>
              <a:t/>
            </a:r>
            <a:br>
              <a:rPr lang="en-US" sz="1600" b="0" dirty="0">
                <a:effectLst/>
              </a:rPr>
            </a:br>
            <a:r>
              <a:rPr lang="en-US" sz="1600" b="0" dirty="0">
                <a:effectLst/>
              </a:rPr>
              <a:t/>
            </a:r>
            <a:br>
              <a:rPr lang="en-US" sz="1600" b="0" dirty="0">
                <a:effectLst/>
              </a:rPr>
            </a:br>
            <a:r>
              <a:rPr lang="en-US" sz="1600" b="1" dirty="0" smtClean="0"/>
              <a:t>OKECHUKWU, MIRACLE OLUCHI</a:t>
            </a:r>
            <a:endParaRPr lang="en-US" sz="1600" b="0" dirty="0">
              <a:effectLst/>
            </a:endParaRPr>
          </a:p>
          <a:p>
            <a:pPr algn="ctr"/>
            <a:r>
              <a:rPr lang="en-US" sz="1600" b="1" dirty="0" smtClean="0"/>
              <a:t>20/SC/CO/1000</a:t>
            </a:r>
            <a:r>
              <a:rPr lang="en-US" sz="1600" b="0" dirty="0">
                <a:effectLst/>
              </a:rPr>
              <a:t/>
            </a:r>
            <a:br>
              <a:rPr lang="en-US" sz="1600" b="0" dirty="0">
                <a:effectLst/>
              </a:rPr>
            </a:br>
            <a:r>
              <a:rPr lang="en-US" sz="1600" b="0" dirty="0">
                <a:effectLst/>
              </a:rPr>
              <a:t/>
            </a:r>
            <a:br>
              <a:rPr lang="en-US" sz="1600" b="0" dirty="0">
                <a:effectLst/>
              </a:rPr>
            </a:br>
            <a:r>
              <a:rPr lang="en-US" sz="1600" b="1" dirty="0"/>
              <a:t>SUBMITTED TO</a:t>
            </a:r>
            <a:r>
              <a:rPr lang="en-US" sz="1600" b="0" dirty="0">
                <a:effectLst/>
              </a:rPr>
              <a:t/>
            </a:r>
            <a:br>
              <a:rPr lang="en-US" sz="1600" b="0" dirty="0">
                <a:effectLst/>
              </a:rPr>
            </a:br>
            <a:r>
              <a:rPr lang="en-US" sz="1600" b="0" dirty="0">
                <a:effectLst/>
              </a:rPr>
              <a:t/>
            </a:r>
            <a:br>
              <a:rPr lang="en-US" sz="1600" b="0" dirty="0">
                <a:effectLst/>
              </a:rPr>
            </a:br>
            <a:r>
              <a:rPr lang="en-US" sz="1600" b="1" dirty="0"/>
              <a:t>DEPARTMENT OF COMPUTER SCIENCE,</a:t>
            </a:r>
            <a:endParaRPr lang="en-US" sz="1600" b="0" dirty="0">
              <a:effectLst/>
            </a:endParaRPr>
          </a:p>
          <a:p>
            <a:pPr algn="ctr"/>
            <a:r>
              <a:rPr lang="en-US" sz="1600" b="1" dirty="0"/>
              <a:t>FACULTY OF COMPUTING,</a:t>
            </a:r>
            <a:endParaRPr lang="en-US" sz="1600" b="0" dirty="0">
              <a:effectLst/>
            </a:endParaRPr>
          </a:p>
          <a:p>
            <a:pPr algn="ctr"/>
            <a:r>
              <a:rPr lang="en-US" sz="1600" b="1" dirty="0"/>
              <a:t>UNIVERSITY OF UYO, UYO.</a:t>
            </a:r>
            <a:r>
              <a:rPr lang="en-US" sz="1600" b="0" dirty="0">
                <a:effectLst/>
              </a:rPr>
              <a:t/>
            </a:r>
            <a:br>
              <a:rPr lang="en-US" sz="1600" b="0" dirty="0">
                <a:effectLst/>
              </a:rPr>
            </a:br>
            <a:r>
              <a:rPr lang="en-US" sz="1600" b="0" dirty="0">
                <a:effectLst/>
              </a:rPr>
              <a:t/>
            </a:r>
            <a:br>
              <a:rPr lang="en-US" sz="1600" b="0" dirty="0">
                <a:effectLst/>
              </a:rPr>
            </a:br>
            <a:r>
              <a:rPr lang="en-US" sz="1600" b="1" dirty="0"/>
              <a:t>IN PARTIAL FULFILLMENT OF THE REQUIREMENT FOR THE AWARD OF BACHELOR OF SCIENCE DEGREE (</a:t>
            </a:r>
            <a:r>
              <a:rPr lang="en-US" sz="1600" b="1" dirty="0" err="1"/>
              <a:t>B.Sc</a:t>
            </a:r>
            <a:r>
              <a:rPr lang="en-US" sz="1600" b="1" dirty="0"/>
              <a:t>) IN COMPUTER SCIENCE.</a:t>
            </a:r>
            <a:r>
              <a:rPr lang="en-US" sz="1600" b="0" dirty="0">
                <a:effectLst/>
              </a:rPr>
              <a:t/>
            </a:r>
            <a:br>
              <a:rPr lang="en-US" sz="1600" b="0" dirty="0">
                <a:effectLst/>
              </a:rPr>
            </a:br>
            <a:r>
              <a:rPr lang="en-US" sz="1600" b="0" dirty="0">
                <a:effectLst/>
              </a:rPr>
              <a:t/>
            </a:r>
            <a:br>
              <a:rPr lang="en-US" sz="1600" b="0" dirty="0">
                <a:effectLst/>
              </a:rPr>
            </a:br>
            <a:r>
              <a:rPr lang="en-US" sz="1600" b="0" dirty="0">
                <a:effectLst/>
              </a:rPr>
              <a:t>							</a:t>
            </a:r>
            <a:r>
              <a:rPr lang="en-US" sz="1600" b="1" dirty="0"/>
              <a:t>AUGUST, 2025</a:t>
            </a:r>
            <a:endParaRPr lang="en-US" sz="1600" b="0" dirty="0">
              <a:effectLst/>
            </a:endParaRPr>
          </a:p>
        </p:txBody>
      </p:sp>
    </p:spTree>
    <p:extLst>
      <p:ext uri="{BB962C8B-B14F-4D97-AF65-F5344CB8AC3E}">
        <p14:creationId xmlns:p14="http://schemas.microsoft.com/office/powerpoint/2010/main" val="3136023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1059582"/>
            <a:ext cx="8640960" cy="461665"/>
          </a:xfrm>
          <a:prstGeom prst="rect">
            <a:avLst/>
          </a:prstGeom>
          <a:noFill/>
        </p:spPr>
        <p:txBody>
          <a:bodyPr wrap="square" rtlCol="0">
            <a:spAutoFit/>
          </a:bodyPr>
          <a:lstStyle/>
          <a:p>
            <a:r>
              <a:rPr lang="en-US" sz="2400" b="1" dirty="0" smtClean="0">
                <a:latin typeface="Montserrat Black" panose="00000A00000000000000" pitchFamily="2" charset="0"/>
              </a:rPr>
              <a:t>Introduction</a:t>
            </a:r>
            <a:endParaRPr lang="x-none" sz="2400" b="1" dirty="0">
              <a:latin typeface="Montserrat Black" panose="00000A00000000000000" pitchFamily="2" charset="0"/>
            </a:endParaRP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0" y="0"/>
            <a:ext cx="9144000" cy="105958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251520" y="1563638"/>
            <a:ext cx="8640960" cy="3077766"/>
          </a:xfrm>
          <a:prstGeom prst="rect">
            <a:avLst/>
          </a:prstGeom>
          <a:noFill/>
        </p:spPr>
        <p:txBody>
          <a:bodyPr wrap="square" rtlCol="0">
            <a:spAutoFit/>
          </a:bodyPr>
          <a:lstStyle/>
          <a:p>
            <a:pPr algn="just"/>
            <a:r>
              <a:rPr lang="en-US" sz="1600" dirty="0">
                <a:latin typeface="Times New Roman" panose="02020603050405020304" pitchFamily="18" charset="0"/>
                <a:cs typeface="Times New Roman" panose="02020603050405020304" pitchFamily="18" charset="0"/>
              </a:rPr>
              <a:t>The stock market is one of the most dynamic and unpredictable sectors of the financial world, where investors, buyers, and sellers interact to trade securities. Predicting stock prices has been a significant area of research, especially with the advent of machine learning and artificial intelligence (AI).</a:t>
            </a:r>
          </a:p>
          <a:p>
            <a:pPr algn="just"/>
            <a:endParaRPr lang="en-US" sz="1600" b="0" dirty="0">
              <a:effectLst/>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Traditionally, two main approaches have been proposed for predicting the stock price of an organization. The technical analysis method uses the historical price of stocks, like the closing and opening price, volume traded, adjacent close values, etc., of the stock for predicting the future price of the stock. The second type of analysis is qualitative, which is performed on the basis of external factors like company profile, market situation, political and economic factors, and textual information in the form of financial new articles, social media and even blogs by economic analyst.</a:t>
            </a:r>
          </a:p>
          <a:p>
            <a:pPr algn="just"/>
            <a:endParaRPr lang="en-US" sz="1600" b="0" dirty="0">
              <a:effectLst/>
              <a:latin typeface="Times New Roman" panose="02020603050405020304" pitchFamily="18" charset="0"/>
              <a:cs typeface="Times New Roman" panose="02020603050405020304" pitchFamily="18" charset="0"/>
            </a:endParaRPr>
          </a:p>
          <a:p>
            <a:pPr algn="just"/>
            <a:r>
              <a:rPr lang="en-US" sz="1600" dirty="0"/>
              <a:t>This research explores a data-driven approach using machine learning.</a:t>
            </a:r>
            <a:endParaRPr lang="en-US" sz="1600" b="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376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0415" y="411510"/>
            <a:ext cx="8640960" cy="461665"/>
          </a:xfrm>
          <a:prstGeom prst="rect">
            <a:avLst/>
          </a:prstGeom>
          <a:noFill/>
        </p:spPr>
        <p:txBody>
          <a:bodyPr wrap="square" rtlCol="0">
            <a:spAutoFit/>
          </a:bodyPr>
          <a:lstStyle/>
          <a:p>
            <a:r>
              <a:rPr lang="en-US" sz="2400" b="1" dirty="0" smtClean="0">
                <a:latin typeface="Montserrat Black" panose="00000A00000000000000" pitchFamily="2" charset="0"/>
              </a:rPr>
              <a:t>Abstract</a:t>
            </a:r>
            <a:endParaRPr lang="x-none" sz="2400" b="1" dirty="0">
              <a:latin typeface="Montserrat Black" panose="00000A00000000000000" pitchFamily="2" charset="0"/>
            </a:endParaRPr>
          </a:p>
        </p:txBody>
      </p:sp>
      <p:sp>
        <p:nvSpPr>
          <p:cNvPr id="6" name="TextBox 5"/>
          <p:cNvSpPr txBox="1"/>
          <p:nvPr/>
        </p:nvSpPr>
        <p:spPr>
          <a:xfrm>
            <a:off x="179512" y="915566"/>
            <a:ext cx="8640960" cy="3816429"/>
          </a:xfrm>
          <a:prstGeom prst="rect">
            <a:avLst/>
          </a:prstGeom>
          <a:noFill/>
        </p:spPr>
        <p:txBody>
          <a:bodyPr wrap="square" rtlCol="0">
            <a:spAutoFit/>
          </a:bodyPr>
          <a:lstStyle/>
          <a:p>
            <a:r>
              <a:rPr lang="en-US" sz="1400" dirty="0"/>
              <a:t>The traditional method of food ordering in </a:t>
            </a:r>
            <a:r>
              <a:rPr lang="en-US" sz="1400" dirty="0" err="1"/>
              <a:t>Uyo</a:t>
            </a:r>
            <a:r>
              <a:rPr lang="en-US" sz="1400" dirty="0"/>
              <a:t>, characterized by manual, paper-based systems, walk-ins,  presents significant challenges, including operational inefficiencies, order inaccuracies, and a suboptimal customer experience. This project addresses these issues through the design and development of a web-based application for seamless eatery ordering and delivery services within </a:t>
            </a:r>
            <a:r>
              <a:rPr lang="en-US" sz="1400" dirty="0" err="1"/>
              <a:t>Uyo</a:t>
            </a:r>
            <a:r>
              <a:rPr lang="en-US" sz="1400" dirty="0"/>
              <a:t> metropolis. The primary aim of this study is to create an integrated digital platform that bridges the gap between customers and local eateries, thereby enhancing convenience and operational efficiency. The system is designed to provide a user-friendly interface for customers to browse menus, place orders, and make secure online payments. For eatery owners, it offers a robust dashboard for menu management, order taking, and sales analytics. The development of the web-based application for seamless eatery ordering and delivery services followed a structured methodology encompassing data collection from local eateries, system design using a multi-tiered client-server model, and implementation with modern web technologies such as Visual Studio Code, with deployment on </a:t>
            </a:r>
            <a:r>
              <a:rPr lang="en-US" sz="1400" u="sng" dirty="0">
                <a:hlinkClick r:id="rId2"/>
              </a:rPr>
              <a:t>Render.com</a:t>
            </a:r>
            <a:r>
              <a:rPr lang="en-US" sz="1400" dirty="0"/>
              <a:t>. The application incorporates key features like real-time order tracking, estimated delivery times, and secure payment gateways to ensure a transparent and reliable service. By automating the ordering and delivery process, the development of a web application for seamless eatery ordering and delivery services plans to reduce waiting times, minimize human error, and provide a scalable solution for small and medium-sized eateries in </a:t>
            </a:r>
            <a:r>
              <a:rPr lang="en-US" sz="1400" dirty="0" err="1"/>
              <a:t>Uyo</a:t>
            </a:r>
            <a:r>
              <a:rPr lang="en-US" sz="1400" dirty="0"/>
              <a:t> to compete in the growing digital market. </a:t>
            </a:r>
            <a:endParaRPr lang="en-US" sz="1400" dirty="0"/>
          </a:p>
          <a:p>
            <a:r>
              <a:rPr lang="en-US" sz="1400" dirty="0"/>
              <a:t/>
            </a:r>
            <a:br>
              <a:rPr lang="en-US" sz="1400" dirty="0"/>
            </a:br>
            <a:endParaRPr lang="en-US" sz="1400" b="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1400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9512" y="339502"/>
            <a:ext cx="8640960" cy="461665"/>
          </a:xfrm>
          <a:prstGeom prst="rect">
            <a:avLst/>
          </a:prstGeom>
          <a:noFill/>
        </p:spPr>
        <p:txBody>
          <a:bodyPr wrap="square" rtlCol="0">
            <a:spAutoFit/>
          </a:bodyPr>
          <a:lstStyle/>
          <a:p>
            <a:r>
              <a:rPr lang="en-US" sz="2400" b="1" dirty="0" smtClean="0">
                <a:latin typeface="Montserrat Black" panose="00000A00000000000000" pitchFamily="2" charset="0"/>
              </a:rPr>
              <a:t>Statement of Problem </a:t>
            </a:r>
            <a:endParaRPr lang="x-none" sz="2400" b="1" dirty="0">
              <a:latin typeface="Montserrat Black" panose="00000A00000000000000" pitchFamily="2" charset="0"/>
            </a:endParaRPr>
          </a:p>
        </p:txBody>
      </p:sp>
      <p:sp>
        <p:nvSpPr>
          <p:cNvPr id="6" name="TextBox 5"/>
          <p:cNvSpPr txBox="1"/>
          <p:nvPr/>
        </p:nvSpPr>
        <p:spPr>
          <a:xfrm>
            <a:off x="179512" y="987574"/>
            <a:ext cx="8640960" cy="3416320"/>
          </a:xfrm>
          <a:prstGeom prst="rect">
            <a:avLst/>
          </a:prstGeom>
          <a:noFill/>
        </p:spPr>
        <p:txBody>
          <a:bodyPr wrap="square" rtlCol="0">
            <a:spAutoFit/>
          </a:bodyPr>
          <a:lstStyle/>
          <a:p>
            <a:r>
              <a:rPr lang="en-US" sz="2400" dirty="0"/>
              <a:t>This study seeks to address one problem which is</a:t>
            </a:r>
            <a:endParaRPr lang="en-US" sz="2400" dirty="0"/>
          </a:p>
          <a:p>
            <a:r>
              <a:rPr lang="en-US" sz="2400" dirty="0"/>
              <a:t>1.  Poor Order Management &amp; Customer Experience</a:t>
            </a:r>
            <a:endParaRPr lang="en-US" sz="2400" dirty="0"/>
          </a:p>
          <a:p>
            <a:r>
              <a:rPr lang="en-US" sz="2400" dirty="0"/>
              <a:t>Most eateries in </a:t>
            </a:r>
            <a:r>
              <a:rPr lang="en-US" sz="2400" dirty="0" err="1"/>
              <a:t>Uyo</a:t>
            </a:r>
            <a:r>
              <a:rPr lang="en-US" sz="2400" dirty="0"/>
              <a:t> currently employ out-dated, paper-based ordering systems, which lead to slow service, frequent order errors, and dissatisfied customers who are not kept abreast of the status of their food delivery, thus an immediate need for an integrated digital solution.</a:t>
            </a:r>
            <a:endParaRPr lang="en-US" sz="2400" dirty="0"/>
          </a:p>
          <a:p>
            <a:r>
              <a:rPr lang="en-US" sz="2400" dirty="0"/>
              <a:t/>
            </a:r>
            <a:br>
              <a:rPr lang="en-US" sz="2400" dirty="0"/>
            </a:br>
            <a:endParaRPr lang="en-US" sz="2400" dirty="0"/>
          </a:p>
        </p:txBody>
      </p:sp>
    </p:spTree>
    <p:extLst>
      <p:ext uri="{BB962C8B-B14F-4D97-AF65-F5344CB8AC3E}">
        <p14:creationId xmlns:p14="http://schemas.microsoft.com/office/powerpoint/2010/main" val="883314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3528" y="195486"/>
            <a:ext cx="8640960" cy="461665"/>
          </a:xfrm>
          <a:prstGeom prst="rect">
            <a:avLst/>
          </a:prstGeom>
          <a:noFill/>
        </p:spPr>
        <p:txBody>
          <a:bodyPr wrap="square" rtlCol="0">
            <a:spAutoFit/>
          </a:bodyPr>
          <a:lstStyle/>
          <a:p>
            <a:r>
              <a:rPr lang="en-US" sz="2400" b="1" dirty="0" smtClean="0">
                <a:latin typeface="Montserrat Black" panose="00000A00000000000000" pitchFamily="2" charset="0"/>
              </a:rPr>
              <a:t>Aim and Objectives</a:t>
            </a:r>
            <a:endParaRPr lang="x-none" sz="2400" b="1" dirty="0">
              <a:latin typeface="Montserrat Black" panose="00000A00000000000000" pitchFamily="2" charset="0"/>
            </a:endParaRPr>
          </a:p>
        </p:txBody>
      </p:sp>
      <p:sp>
        <p:nvSpPr>
          <p:cNvPr id="6" name="TextBox 5"/>
          <p:cNvSpPr txBox="1"/>
          <p:nvPr/>
        </p:nvSpPr>
        <p:spPr>
          <a:xfrm>
            <a:off x="349471" y="657151"/>
            <a:ext cx="8568952" cy="4278094"/>
          </a:xfrm>
          <a:prstGeom prst="rect">
            <a:avLst/>
          </a:prstGeom>
          <a:noFill/>
        </p:spPr>
        <p:txBody>
          <a:bodyPr wrap="square" rtlCol="0">
            <a:spAutoFit/>
          </a:bodyPr>
          <a:lstStyle/>
          <a:p>
            <a:r>
              <a:rPr lang="en-US" sz="1600" b="1" dirty="0"/>
              <a:t>Aim</a:t>
            </a:r>
            <a:endParaRPr lang="en-US" sz="1600" dirty="0"/>
          </a:p>
          <a:p>
            <a:r>
              <a:rPr lang="en-US" sz="1600" dirty="0"/>
              <a:t>The aim of this study is to design and develop a web application for seamless eatery ordering and delivery services</a:t>
            </a:r>
            <a:r>
              <a:rPr lang="en-US" sz="1600" cap="small" dirty="0"/>
              <a:t>.</a:t>
            </a:r>
            <a:endParaRPr lang="en-US" sz="1600" dirty="0"/>
          </a:p>
          <a:p>
            <a:r>
              <a:rPr lang="en-US" sz="1600" b="1" dirty="0"/>
              <a:t>Objectives</a:t>
            </a:r>
            <a:endParaRPr lang="en-US" sz="1600" dirty="0"/>
          </a:p>
          <a:p>
            <a:r>
              <a:rPr lang="en-US" sz="1600" dirty="0"/>
              <a:t>The objectives of the study are to</a:t>
            </a:r>
            <a:endParaRPr lang="en-US" sz="1600" dirty="0"/>
          </a:p>
          <a:p>
            <a:r>
              <a:rPr lang="en-US" sz="1600" dirty="0"/>
              <a:t> Collect data from different eateries in </a:t>
            </a:r>
            <a:r>
              <a:rPr lang="en-US" sz="1600" dirty="0" err="1"/>
              <a:t>Uyo</a:t>
            </a:r>
            <a:r>
              <a:rPr lang="en-US" sz="1600" dirty="0"/>
              <a:t> metropolis using an online survey form.</a:t>
            </a:r>
            <a:endParaRPr lang="en-US" sz="1600" dirty="0"/>
          </a:p>
          <a:p>
            <a:r>
              <a:rPr lang="en-US" sz="1600" dirty="0"/>
              <a:t>2. Data preprocessing to spot any unusual data, outliers, errors or spaces in the dataset using Excel sheet.</a:t>
            </a:r>
            <a:endParaRPr lang="en-US" sz="1600" dirty="0"/>
          </a:p>
          <a:p>
            <a:r>
              <a:rPr lang="en-US" sz="1600" dirty="0"/>
              <a:t>3. </a:t>
            </a:r>
            <a:r>
              <a:rPr lang="en-US" sz="1600" dirty="0" err="1"/>
              <a:t>Analyse</a:t>
            </a:r>
            <a:r>
              <a:rPr lang="en-US" sz="1600" dirty="0"/>
              <a:t> the collected data using Excel sheet.</a:t>
            </a:r>
            <a:endParaRPr lang="en-US" sz="1600" dirty="0"/>
          </a:p>
          <a:p>
            <a:r>
              <a:rPr lang="en-US" sz="1600" dirty="0"/>
              <a:t>4. Design the database which will be used to determine the type of data to be stored, such as customers, orders, products, eateries, etc. Using </a:t>
            </a:r>
            <a:r>
              <a:rPr lang="en-US" sz="1600" u="sng" dirty="0">
                <a:hlinkClick r:id="rId2"/>
              </a:rPr>
              <a:t>eraser.io</a:t>
            </a:r>
            <a:r>
              <a:rPr lang="en-US" sz="1600" dirty="0"/>
              <a:t>.</a:t>
            </a:r>
            <a:endParaRPr lang="en-US" sz="1600" dirty="0"/>
          </a:p>
          <a:p>
            <a:r>
              <a:rPr lang="en-US" sz="1600" dirty="0"/>
              <a:t>5. Build and deploy the system using visual studio code and Render.com.</a:t>
            </a:r>
            <a:endParaRPr lang="en-US" sz="1600" dirty="0"/>
          </a:p>
          <a:p>
            <a:r>
              <a:rPr lang="en-US" sz="1600" dirty="0"/>
              <a:t>6. Add functionality to ensure the web application is limited to </a:t>
            </a:r>
            <a:r>
              <a:rPr lang="en-US" sz="1600" dirty="0" err="1"/>
              <a:t>Uyo</a:t>
            </a:r>
            <a:r>
              <a:rPr lang="en-US" sz="1600" dirty="0"/>
              <a:t> metropolis.</a:t>
            </a:r>
            <a:endParaRPr lang="en-US" sz="1600" dirty="0"/>
          </a:p>
          <a:p>
            <a:r>
              <a:rPr lang="en-US" sz="1600" dirty="0"/>
              <a:t>7. Identify areas for improvement and to assess the solution’s effectiveness etc. Using E2E testing (End-to-end testing).</a:t>
            </a:r>
            <a:endParaRPr lang="en-US" sz="1600" dirty="0"/>
          </a:p>
          <a:p>
            <a:r>
              <a:rPr lang="en-US" sz="1600" dirty="0"/>
              <a:t/>
            </a:r>
            <a:br>
              <a:rPr lang="en-US" sz="1600" dirty="0"/>
            </a:br>
            <a:endParaRPr lang="en-US" sz="1600" dirty="0"/>
          </a:p>
        </p:txBody>
      </p:sp>
    </p:spTree>
    <p:extLst>
      <p:ext uri="{BB962C8B-B14F-4D97-AF65-F5344CB8AC3E}">
        <p14:creationId xmlns:p14="http://schemas.microsoft.com/office/powerpoint/2010/main" val="642567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9512" y="195486"/>
            <a:ext cx="8640960" cy="461665"/>
          </a:xfrm>
          <a:prstGeom prst="rect">
            <a:avLst/>
          </a:prstGeom>
          <a:noFill/>
        </p:spPr>
        <p:txBody>
          <a:bodyPr wrap="square" rtlCol="0">
            <a:spAutoFit/>
          </a:bodyPr>
          <a:lstStyle/>
          <a:p>
            <a:r>
              <a:rPr lang="en-US" sz="2400" b="1" dirty="0" smtClean="0">
                <a:latin typeface="Montserrat Black" panose="00000A00000000000000" pitchFamily="2" charset="0"/>
              </a:rPr>
              <a:t>Significance of Study</a:t>
            </a:r>
            <a:endParaRPr lang="x-none" sz="2400" b="1" dirty="0">
              <a:latin typeface="Montserrat Black" panose="00000A00000000000000" pitchFamily="2" charset="0"/>
            </a:endParaRPr>
          </a:p>
        </p:txBody>
      </p:sp>
      <p:sp>
        <p:nvSpPr>
          <p:cNvPr id="6" name="TextBox 5"/>
          <p:cNvSpPr txBox="1"/>
          <p:nvPr/>
        </p:nvSpPr>
        <p:spPr>
          <a:xfrm>
            <a:off x="251520" y="1563638"/>
            <a:ext cx="8640960" cy="1938992"/>
          </a:xfrm>
          <a:prstGeom prst="rect">
            <a:avLst/>
          </a:prstGeom>
          <a:noFill/>
        </p:spPr>
        <p:txBody>
          <a:bodyPr wrap="square" rtlCol="0">
            <a:spAutoFit/>
          </a:bodyPr>
          <a:lstStyle/>
          <a:p>
            <a:r>
              <a:rPr lang="en-US" sz="2400" dirty="0"/>
              <a:t>1. </a:t>
            </a:r>
            <a:r>
              <a:rPr lang="en-US" sz="2400" dirty="0"/>
              <a:t>Enhanced Customer Convenience and Satisfaction</a:t>
            </a:r>
            <a:r>
              <a:rPr lang="en-US" sz="2400" dirty="0"/>
              <a:t> </a:t>
            </a:r>
          </a:p>
          <a:p>
            <a:r>
              <a:rPr lang="en-US" sz="2400" dirty="0"/>
              <a:t>2. </a:t>
            </a:r>
            <a:r>
              <a:rPr lang="en-US" sz="2400" dirty="0"/>
              <a:t>Business Growth for Eateries</a:t>
            </a:r>
            <a:r>
              <a:rPr lang="en-US" sz="2400" dirty="0"/>
              <a:t> </a:t>
            </a:r>
          </a:p>
          <a:p>
            <a:r>
              <a:rPr lang="en-US" sz="2400" dirty="0"/>
              <a:t>3. </a:t>
            </a:r>
            <a:r>
              <a:rPr lang="en-US" sz="2400" dirty="0"/>
              <a:t>Employment Opportunities for Delivery Personnel</a:t>
            </a:r>
            <a:r>
              <a:rPr lang="en-US" sz="2400" dirty="0"/>
              <a:t> </a:t>
            </a:r>
          </a:p>
          <a:p>
            <a:r>
              <a:rPr lang="en-US" sz="2400" dirty="0"/>
              <a:t>4. </a:t>
            </a:r>
            <a:r>
              <a:rPr lang="en-US" sz="2400" dirty="0"/>
              <a:t>Boost to </a:t>
            </a:r>
            <a:r>
              <a:rPr lang="en-US" sz="2400" dirty="0" err="1"/>
              <a:t>Uyo’s</a:t>
            </a:r>
            <a:r>
              <a:rPr lang="en-US" sz="2400" dirty="0"/>
              <a:t> Digital </a:t>
            </a:r>
            <a:r>
              <a:rPr lang="en-US" sz="2400" dirty="0" smtClean="0"/>
              <a:t>Economy</a:t>
            </a:r>
          </a:p>
          <a:p>
            <a:r>
              <a:rPr lang="en-US" sz="2400" dirty="0" smtClean="0"/>
              <a:t>5. </a:t>
            </a:r>
            <a:r>
              <a:rPr lang="en-US" sz="2400" dirty="0"/>
              <a:t>Academic and Technological Contribution</a:t>
            </a:r>
            <a:endParaRPr lang="en-US" sz="2400" dirty="0"/>
          </a:p>
        </p:txBody>
      </p:sp>
    </p:spTree>
    <p:extLst>
      <p:ext uri="{BB962C8B-B14F-4D97-AF65-F5344CB8AC3E}">
        <p14:creationId xmlns:p14="http://schemas.microsoft.com/office/powerpoint/2010/main" val="1901131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267494"/>
            <a:ext cx="8640960" cy="461665"/>
          </a:xfrm>
          <a:prstGeom prst="rect">
            <a:avLst/>
          </a:prstGeom>
          <a:noFill/>
        </p:spPr>
        <p:txBody>
          <a:bodyPr wrap="square" rtlCol="0">
            <a:spAutoFit/>
          </a:bodyPr>
          <a:lstStyle/>
          <a:p>
            <a:r>
              <a:rPr lang="en-US" sz="2400" b="1" dirty="0" smtClean="0">
                <a:latin typeface="Montserrat Black" panose="00000A00000000000000" pitchFamily="2" charset="0"/>
              </a:rPr>
              <a:t>Scope of Study</a:t>
            </a:r>
            <a:endParaRPr lang="x-none" sz="2400" b="1" dirty="0">
              <a:latin typeface="Montserrat Black" panose="00000A00000000000000" pitchFamily="2" charset="0"/>
            </a:endParaRPr>
          </a:p>
        </p:txBody>
      </p:sp>
      <p:sp>
        <p:nvSpPr>
          <p:cNvPr id="6" name="TextBox 5"/>
          <p:cNvSpPr txBox="1"/>
          <p:nvPr/>
        </p:nvSpPr>
        <p:spPr>
          <a:xfrm>
            <a:off x="179512" y="987574"/>
            <a:ext cx="8640960" cy="3539430"/>
          </a:xfrm>
          <a:prstGeom prst="rect">
            <a:avLst/>
          </a:prstGeom>
          <a:noFill/>
        </p:spPr>
        <p:txBody>
          <a:bodyPr wrap="square" rtlCol="0">
            <a:spAutoFit/>
          </a:bodyPr>
          <a:lstStyle/>
          <a:p>
            <a:r>
              <a:rPr lang="en-US" sz="3200" dirty="0"/>
              <a:t>This study focuses on developing a web application that is designed to facilitate online food ordering and delivery services exclusively for registered eateries within </a:t>
            </a:r>
            <a:r>
              <a:rPr lang="en-US" sz="3200" dirty="0" err="1"/>
              <a:t>Uyo</a:t>
            </a:r>
            <a:r>
              <a:rPr lang="en-US" sz="3200" dirty="0"/>
              <a:t> metropolis, incorporating features for user registration, menu management, order processing, delivery tracking, and payment integration.</a:t>
            </a:r>
            <a:endParaRPr lang="en-US" sz="3200" dirty="0"/>
          </a:p>
        </p:txBody>
      </p:sp>
    </p:spTree>
    <p:extLst>
      <p:ext uri="{BB962C8B-B14F-4D97-AF65-F5344CB8AC3E}">
        <p14:creationId xmlns:p14="http://schemas.microsoft.com/office/powerpoint/2010/main" val="1974393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267494"/>
            <a:ext cx="8640960" cy="461665"/>
          </a:xfrm>
          <a:prstGeom prst="rect">
            <a:avLst/>
          </a:prstGeom>
          <a:noFill/>
        </p:spPr>
        <p:txBody>
          <a:bodyPr wrap="square" rtlCol="0">
            <a:spAutoFit/>
          </a:bodyPr>
          <a:lstStyle/>
          <a:p>
            <a:r>
              <a:rPr lang="en-US" sz="2400" b="1" dirty="0" smtClean="0">
                <a:latin typeface="Montserrat Black" panose="00000A00000000000000" pitchFamily="2" charset="0"/>
              </a:rPr>
              <a:t>Literature Review</a:t>
            </a:r>
            <a:endParaRPr lang="x-none" sz="2400" b="1" dirty="0">
              <a:latin typeface="Montserrat Black" panose="00000A00000000000000" pitchFamily="2" charset="0"/>
            </a:endParaRPr>
          </a:p>
        </p:txBody>
      </p:sp>
      <p:sp>
        <p:nvSpPr>
          <p:cNvPr id="6" name="TextBox 5"/>
          <p:cNvSpPr txBox="1"/>
          <p:nvPr/>
        </p:nvSpPr>
        <p:spPr>
          <a:xfrm>
            <a:off x="287514" y="865406"/>
            <a:ext cx="8640960" cy="4278094"/>
          </a:xfrm>
          <a:prstGeom prst="rect">
            <a:avLst/>
          </a:prstGeom>
          <a:noFill/>
        </p:spPr>
        <p:txBody>
          <a:bodyPr wrap="square" rtlCol="0">
            <a:spAutoFit/>
          </a:bodyPr>
          <a:lstStyle/>
          <a:p>
            <a:r>
              <a:rPr lang="en-US" sz="1600" dirty="0"/>
              <a:t>The online food delivery industry, as it exists today, is the product of several decades of technological innovation and shifting consumer behaviors. Its evolution can be traced through distinct stages, each defined by the prevailing technology and business models of its time</a:t>
            </a:r>
            <a:r>
              <a:rPr lang="en-US" sz="1600" dirty="0" smtClean="0"/>
              <a:t>.</a:t>
            </a:r>
          </a:p>
          <a:p>
            <a:endParaRPr lang="en-US" sz="1600" dirty="0"/>
          </a:p>
          <a:p>
            <a:r>
              <a:rPr lang="en-US" sz="1600" dirty="0"/>
              <a:t>The concept of ordering food via a digital interface emerged concurrently with the public's access to the internet. The first documented online food order is widely cited as a transaction for a Pizza Hut pizza in 1994, facilitated by a service known as "Pizza Net" (Wikipedia, </a:t>
            </a:r>
            <a:r>
              <a:rPr lang="en-US" sz="1600" dirty="0" err="1"/>
              <a:t>n.d.</a:t>
            </a:r>
            <a:r>
              <a:rPr lang="en-US" sz="1600" dirty="0"/>
              <a:t>, "Online food ordering"). This was shortly followed by the establishment of the first multi-restaurant online delivery platform, World Wide Waiter (which later became Waiter.com), in 1995. This service aggregated the menus of over 60 restaurants in the San Francisco Bay area, allowing users to place orders through a single web portal (</a:t>
            </a:r>
            <a:r>
              <a:rPr lang="en-US" sz="1600" dirty="0" err="1"/>
              <a:t>Shimoff</a:t>
            </a:r>
            <a:r>
              <a:rPr lang="en-US" sz="1600" dirty="0"/>
              <a:t>, 2015; Wikipedia, </a:t>
            </a:r>
            <a:r>
              <a:rPr lang="en-US" sz="1600" dirty="0" err="1"/>
              <a:t>n.d.</a:t>
            </a:r>
            <a:r>
              <a:rPr lang="en-US" sz="1600" dirty="0"/>
              <a:t>, "Online food ordering"). These early systems were revolutionary, demonstrating the potential of the internet to disrupt traditional consumer services. However, their growth was constrained by the technological and cultural limitations of the dot-com era. Widespread consumer habits had not yet adapted to online purchasing, and the preference for immediate, in-store acquisition over waiting for a delivery remained dominant (</a:t>
            </a:r>
            <a:r>
              <a:rPr lang="en-US" sz="1600" dirty="0" err="1"/>
              <a:t>Gan</a:t>
            </a:r>
            <a:r>
              <a:rPr lang="en-US" sz="1600" dirty="0"/>
              <a:t>, 2000). </a:t>
            </a:r>
            <a:endParaRPr lang="en-US" sz="1600" dirty="0"/>
          </a:p>
          <a:p>
            <a:r>
              <a:rPr lang="en-US" sz="1600" dirty="0"/>
              <a:t/>
            </a:r>
            <a:br>
              <a:rPr lang="en-US" sz="1600" dirty="0"/>
            </a:br>
            <a:endParaRPr lang="en-US" sz="1600" dirty="0"/>
          </a:p>
        </p:txBody>
      </p:sp>
    </p:spTree>
    <p:extLst>
      <p:ext uri="{BB962C8B-B14F-4D97-AF65-F5344CB8AC3E}">
        <p14:creationId xmlns:p14="http://schemas.microsoft.com/office/powerpoint/2010/main" val="3456153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1059582"/>
            <a:ext cx="8640960" cy="461665"/>
          </a:xfrm>
          <a:prstGeom prst="rect">
            <a:avLst/>
          </a:prstGeom>
          <a:noFill/>
        </p:spPr>
        <p:txBody>
          <a:bodyPr wrap="square" rtlCol="0">
            <a:spAutoFit/>
          </a:bodyPr>
          <a:lstStyle/>
          <a:p>
            <a:r>
              <a:rPr lang="en-US" sz="2400" b="1" dirty="0">
                <a:latin typeface="Montserrat Black" panose="00000A00000000000000" pitchFamily="2" charset="0"/>
              </a:rPr>
              <a:t>Research Methodology</a:t>
            </a:r>
            <a:endParaRPr lang="x-none" sz="2400" b="1" dirty="0">
              <a:latin typeface="Montserrat Black" panose="00000A00000000000000" pitchFamily="2" charset="0"/>
            </a:endParaRPr>
          </a:p>
        </p:txBody>
      </p:sp>
      <p:pic>
        <p:nvPicPr>
          <p:cNvPr id="5" name="Picture 3" descr="C:\Users\Techgwolo\Downloads\app-view.cb6d45c43bcf89257771.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51520" y="1491630"/>
            <a:ext cx="8640960" cy="3539430"/>
          </a:xfrm>
          <a:prstGeom prst="rect">
            <a:avLst/>
          </a:prstGeom>
          <a:noFill/>
        </p:spPr>
        <p:txBody>
          <a:bodyPr wrap="square" rtlCol="0">
            <a:spAutoFit/>
          </a:bodyPr>
          <a:lstStyle/>
          <a:p>
            <a:pPr algn="just">
              <a:lnSpc>
                <a:spcPct val="200000"/>
              </a:lnSpc>
            </a:pPr>
            <a:r>
              <a:rPr lang="en-US" sz="1600" dirty="0">
                <a:latin typeface="Times New Roman" panose="02020603050405020304" pitchFamily="18" charset="0"/>
                <a:cs typeface="Times New Roman" panose="02020603050405020304" pitchFamily="18" charset="0"/>
              </a:rPr>
              <a:t>My Approach</a:t>
            </a:r>
          </a:p>
          <a:p>
            <a:pPr marL="285750" indent="-285750" algn="just">
              <a:lnSpc>
                <a:spcPct val="20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Data:</a:t>
            </a:r>
            <a:r>
              <a:rPr lang="en-US" sz="1600" dirty="0">
                <a:latin typeface="Times New Roman" panose="02020603050405020304" pitchFamily="18" charset="0"/>
                <a:cs typeface="Times New Roman" panose="02020603050405020304" pitchFamily="18" charset="0"/>
              </a:rPr>
              <a:t> Historical data for Reliance Industries from Yahoo Finance.</a:t>
            </a:r>
          </a:p>
          <a:p>
            <a:pPr marL="285750" indent="-285750" algn="just">
              <a:lnSpc>
                <a:spcPct val="20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Preparation:</a:t>
            </a:r>
            <a:r>
              <a:rPr lang="en-US" sz="1600" dirty="0">
                <a:latin typeface="Times New Roman" panose="02020603050405020304" pitchFamily="18" charset="0"/>
                <a:cs typeface="Times New Roman" panose="02020603050405020304" pitchFamily="18" charset="0"/>
              </a:rPr>
              <a:t> Cleaned data, handled missing values, and created new features like Moving Averages (SMA, EMA).</a:t>
            </a:r>
          </a:p>
          <a:p>
            <a:pPr marL="285750" indent="-285750" algn="just">
              <a:lnSpc>
                <a:spcPct val="20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Model Implementation:</a:t>
            </a:r>
            <a:r>
              <a:rPr lang="en-US" sz="1600" dirty="0">
                <a:latin typeface="Times New Roman" panose="02020603050405020304" pitchFamily="18" charset="0"/>
                <a:cs typeface="Times New Roman" panose="02020603050405020304" pitchFamily="18" charset="0"/>
              </a:rPr>
              <a:t> Implemented the Random Forest algorithm, a powerful ensemble learning method.</a:t>
            </a:r>
          </a:p>
          <a:p>
            <a:pPr marL="285750" indent="-285750" algn="just">
              <a:lnSpc>
                <a:spcPct val="200000"/>
              </a:lnSpc>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Validation:</a:t>
            </a:r>
            <a:r>
              <a:rPr lang="en-US" sz="1600" dirty="0">
                <a:latin typeface="Times New Roman" panose="02020603050405020304" pitchFamily="18" charset="0"/>
                <a:cs typeface="Times New Roman" panose="02020603050405020304" pitchFamily="18" charset="0"/>
              </a:rPr>
              <a:t> Used a time-series split to ensure accurate evaluation of the model.</a:t>
            </a:r>
            <a:endParaRPr lang="en-US" sz="1600" b="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26111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3235" y="339502"/>
            <a:ext cx="8640960" cy="461665"/>
          </a:xfrm>
          <a:prstGeom prst="rect">
            <a:avLst/>
          </a:prstGeom>
          <a:noFill/>
        </p:spPr>
        <p:txBody>
          <a:bodyPr wrap="square" rtlCol="0">
            <a:spAutoFit/>
          </a:bodyPr>
          <a:lstStyle/>
          <a:p>
            <a:r>
              <a:rPr lang="en-US" sz="2400" b="1" dirty="0" smtClean="0">
                <a:latin typeface="Montserrat Black" panose="00000A00000000000000" pitchFamily="2" charset="0"/>
              </a:rPr>
              <a:t>System Architecture</a:t>
            </a:r>
            <a:endParaRPr lang="x-none" sz="2400" b="1" dirty="0">
              <a:latin typeface="Montserrat Black" panose="00000A00000000000000" pitchFamily="2" charset="0"/>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35697" y="787796"/>
            <a:ext cx="4608512" cy="4275143"/>
          </a:xfrm>
          <a:prstGeom prst="rect">
            <a:avLst/>
          </a:prstGeom>
        </p:spPr>
      </p:pic>
    </p:spTree>
    <p:extLst>
      <p:ext uri="{BB962C8B-B14F-4D97-AF65-F5344CB8AC3E}">
        <p14:creationId xmlns:p14="http://schemas.microsoft.com/office/powerpoint/2010/main" val="5897626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7702" y="339502"/>
            <a:ext cx="8640960" cy="461665"/>
          </a:xfrm>
          <a:prstGeom prst="rect">
            <a:avLst/>
          </a:prstGeom>
          <a:noFill/>
        </p:spPr>
        <p:txBody>
          <a:bodyPr wrap="square" rtlCol="0">
            <a:spAutoFit/>
          </a:bodyPr>
          <a:lstStyle/>
          <a:p>
            <a:r>
              <a:rPr lang="en-US" sz="2400" b="1" dirty="0" smtClean="0">
                <a:latin typeface="Montserrat Black" panose="00000A00000000000000" pitchFamily="2" charset="0"/>
              </a:rPr>
              <a:t>Tools Used</a:t>
            </a:r>
            <a:endParaRPr lang="x-none" sz="2400" b="1" dirty="0">
              <a:latin typeface="Montserrat Black" panose="00000A00000000000000" pitchFamily="2" charset="0"/>
            </a:endParaRPr>
          </a:p>
        </p:txBody>
      </p:sp>
      <p:sp>
        <p:nvSpPr>
          <p:cNvPr id="6" name="TextBox 5"/>
          <p:cNvSpPr txBox="1"/>
          <p:nvPr/>
        </p:nvSpPr>
        <p:spPr>
          <a:xfrm>
            <a:off x="251520" y="987574"/>
            <a:ext cx="8640960" cy="830997"/>
          </a:xfrm>
          <a:prstGeom prst="rect">
            <a:avLst/>
          </a:prstGeom>
          <a:noFill/>
        </p:spPr>
        <p:txBody>
          <a:bodyPr wrap="square" rtlCol="0">
            <a:spAutoFit/>
          </a:bodyPr>
          <a:lstStyle/>
          <a:p>
            <a:r>
              <a:rPr lang="en-US" sz="2400" dirty="0" smtClean="0"/>
              <a:t>1. </a:t>
            </a:r>
            <a:r>
              <a:rPr lang="en-US" sz="2400"/>
              <a:t>Integrated Development Environment (IDE): Visual Studio Code (VS Code)</a:t>
            </a:r>
            <a:endParaRPr lang="en-US" sz="2400" dirty="0"/>
          </a:p>
        </p:txBody>
      </p:sp>
    </p:spTree>
    <p:extLst>
      <p:ext uri="{BB962C8B-B14F-4D97-AF65-F5344CB8AC3E}">
        <p14:creationId xmlns:p14="http://schemas.microsoft.com/office/powerpoint/2010/main" val="3157529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0B28E0A8-F596-C94D-3C22-28AC76A681A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9E730F9B-B9FA-65F9-9369-C7D32728ED61}"/>
              </a:ext>
            </a:extLst>
          </p:cNvPr>
          <p:cNvSpPr txBox="1"/>
          <p:nvPr/>
        </p:nvSpPr>
        <p:spPr>
          <a:xfrm>
            <a:off x="251520" y="1059582"/>
            <a:ext cx="8640960" cy="461665"/>
          </a:xfrm>
          <a:prstGeom prst="rect">
            <a:avLst/>
          </a:prstGeom>
          <a:noFill/>
        </p:spPr>
        <p:txBody>
          <a:bodyPr wrap="square" rtlCol="0">
            <a:spAutoFit/>
          </a:bodyPr>
          <a:lstStyle/>
          <a:p>
            <a:r>
              <a:rPr lang="en-US" sz="2400" b="1" dirty="0">
                <a:latin typeface="Montserrat Black" panose="00000A00000000000000" pitchFamily="2" charset="0"/>
              </a:rPr>
              <a:t>Data Collection</a:t>
            </a:r>
            <a:endParaRPr lang="en-US" sz="2400" dirty="0">
              <a:latin typeface="Montserrat Black" panose="00000A00000000000000" pitchFamily="2" charset="0"/>
            </a:endParaRPr>
          </a:p>
        </p:txBody>
      </p:sp>
      <p:sp>
        <p:nvSpPr>
          <p:cNvPr id="7" name="TextBox 6">
            <a:extLst>
              <a:ext uri="{FF2B5EF4-FFF2-40B4-BE49-F238E27FC236}">
                <a16:creationId xmlns:a16="http://schemas.microsoft.com/office/drawing/2014/main" xmlns="" id="{E12DDE76-7F37-BDBD-0607-09AF28B0B6E1}"/>
              </a:ext>
            </a:extLst>
          </p:cNvPr>
          <p:cNvSpPr txBox="1"/>
          <p:nvPr/>
        </p:nvSpPr>
        <p:spPr>
          <a:xfrm>
            <a:off x="251520" y="1521247"/>
            <a:ext cx="8640960" cy="1815882"/>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The foundation of any predictive modeling exercise lies in the quality and relevance of the data. For this study, historical stock market data for Reliance Industries Limited is sourced from Yahoo Finance, spanning a decade from June 1, 2014, to June 1, 2024. This extended timeframe is deliberately chosen to capture multiple market cycles, including periods of economic stability, volatility, and the unprecedented market conditions during the COVID-19 pandemic. The dataset comprises daily trading metrics, including opening, high, low, and closing prices, along with adjusted closing prices and trading volumes.</a:t>
            </a:r>
          </a:p>
        </p:txBody>
      </p:sp>
      <p:pic>
        <p:nvPicPr>
          <p:cNvPr id="8" name="image17.png">
            <a:extLst>
              <a:ext uri="{FF2B5EF4-FFF2-40B4-BE49-F238E27FC236}">
                <a16:creationId xmlns:a16="http://schemas.microsoft.com/office/drawing/2014/main" xmlns="" id="{2D0B836B-AF78-74A4-8D49-97DD273C72BB}"/>
              </a:ext>
            </a:extLst>
          </p:cNvPr>
          <p:cNvPicPr/>
          <p:nvPr/>
        </p:nvPicPr>
        <p:blipFill>
          <a:blip r:embed="rId3"/>
          <a:srcRect t="20351" r="1630" b="47183"/>
          <a:stretch>
            <a:fillRect/>
          </a:stretch>
        </p:blipFill>
        <p:spPr>
          <a:xfrm>
            <a:off x="1403648" y="3435846"/>
            <a:ext cx="5838825" cy="1591945"/>
          </a:xfrm>
          <a:prstGeom prst="rect">
            <a:avLst/>
          </a:prstGeom>
          <a:ln/>
        </p:spPr>
      </p:pic>
    </p:spTree>
    <p:extLst>
      <p:ext uri="{BB962C8B-B14F-4D97-AF65-F5344CB8AC3E}">
        <p14:creationId xmlns:p14="http://schemas.microsoft.com/office/powerpoint/2010/main" val="38814040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1059582"/>
            <a:ext cx="8640960" cy="461665"/>
          </a:xfrm>
          <a:prstGeom prst="rect">
            <a:avLst/>
          </a:prstGeom>
          <a:noFill/>
        </p:spPr>
        <p:txBody>
          <a:bodyPr wrap="square" rtlCol="0">
            <a:spAutoFit/>
          </a:bodyPr>
          <a:lstStyle/>
          <a:p>
            <a:r>
              <a:rPr lang="en-US" sz="2400" b="1" dirty="0" smtClean="0">
                <a:latin typeface="Montserrat Black" panose="00000A00000000000000" pitchFamily="2" charset="0"/>
              </a:rPr>
              <a:t>Data Preprocessing</a:t>
            </a:r>
            <a:endParaRPr lang="x-none" sz="2400" b="1" dirty="0">
              <a:latin typeface="Montserrat Black" panose="00000A00000000000000" pitchFamily="2" charset="0"/>
            </a:endParaRPr>
          </a:p>
        </p:txBody>
      </p:sp>
      <p:pic>
        <p:nvPicPr>
          <p:cNvPr id="5" name="Picture 3" descr="C:\Users\Techgwolo\Downloads\app-view.cb6d45c43bcf89257771.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51520" y="1491630"/>
            <a:ext cx="8640960" cy="3108543"/>
          </a:xfrm>
          <a:prstGeom prst="rect">
            <a:avLst/>
          </a:prstGeom>
          <a:noFill/>
        </p:spPr>
        <p:txBody>
          <a:bodyPr wrap="square" rtlCol="0">
            <a:spAutoFit/>
          </a:bodyPr>
          <a:lstStyle/>
          <a:p>
            <a:r>
              <a:rPr lang="en-US" sz="2800" dirty="0"/>
              <a:t>Upon collection, the raw data underwent a rigorous preprocessing pipeline to ensure its quality and suitability for model training. This commenced with data cleaning, where meticulous attention was paid to identifying and addressing any null or missing values to maintain data integrity and consistency. Following cleaning, the data was subjected to visual inspection through various line plots. </a:t>
            </a:r>
          </a:p>
        </p:txBody>
      </p:sp>
    </p:spTree>
    <p:extLst>
      <p:ext uri="{BB962C8B-B14F-4D97-AF65-F5344CB8AC3E}">
        <p14:creationId xmlns:p14="http://schemas.microsoft.com/office/powerpoint/2010/main" val="207655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1059582"/>
            <a:ext cx="8640960" cy="461665"/>
          </a:xfrm>
          <a:prstGeom prst="rect">
            <a:avLst/>
          </a:prstGeom>
          <a:noFill/>
        </p:spPr>
        <p:txBody>
          <a:bodyPr wrap="square" rtlCol="0">
            <a:spAutoFit/>
          </a:bodyPr>
          <a:lstStyle/>
          <a:p>
            <a:r>
              <a:rPr lang="en-US" sz="2400" b="1" dirty="0" smtClean="0">
                <a:latin typeface="Montserrat Black" panose="00000A00000000000000" pitchFamily="2" charset="0"/>
              </a:rPr>
              <a:t>Feature Engineering</a:t>
            </a:r>
            <a:endParaRPr lang="x-none" sz="2400" b="1" dirty="0">
              <a:latin typeface="Montserrat Black" panose="00000A00000000000000" pitchFamily="2" charset="0"/>
            </a:endParaRPr>
          </a:p>
        </p:txBody>
      </p:sp>
      <p:pic>
        <p:nvPicPr>
          <p:cNvPr id="5" name="Picture 3" descr="C:\Users\Techgwolo\Downloads\app-view.cb6d45c43bcf89257771.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51520" y="1491630"/>
            <a:ext cx="8640960" cy="3170099"/>
          </a:xfrm>
          <a:prstGeom prst="rect">
            <a:avLst/>
          </a:prstGeom>
          <a:noFill/>
        </p:spPr>
        <p:txBody>
          <a:bodyPr wrap="square" rtlCol="0">
            <a:spAutoFit/>
          </a:bodyPr>
          <a:lstStyle/>
          <a:p>
            <a:r>
              <a:rPr lang="en-US" sz="2000" dirty="0"/>
              <a:t>Feature engineering is a critical process aimed at enhancing the predictive capabilities of the dataset by generating new, derived variables from raw historical stock market data. This allows the Random Forest model to better identify and leverage complex, non-linear patterns and temporal dependencies within the data, effectively enriching its predictive potential by supplying additional context and crucial predictive signals. This includes creating key technical indicators such as Simple Moving Average (SMA), Exponential Moving Average (EMA), Daily Returns, Volatility (Standard Deviation of daily returns over a period), and Momentum, all of which contribute to a more robust and accurate stock price prediction model.</a:t>
            </a:r>
          </a:p>
        </p:txBody>
      </p:sp>
    </p:spTree>
    <p:extLst>
      <p:ext uri="{BB962C8B-B14F-4D97-AF65-F5344CB8AC3E}">
        <p14:creationId xmlns:p14="http://schemas.microsoft.com/office/powerpoint/2010/main" val="443456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3786C088-C56F-151C-A924-BA7403C21D41}"/>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3E6A9532-8ACF-9946-48B9-878D6B9F7E0F}"/>
              </a:ext>
            </a:extLst>
          </p:cNvPr>
          <p:cNvSpPr txBox="1"/>
          <p:nvPr/>
        </p:nvSpPr>
        <p:spPr>
          <a:xfrm>
            <a:off x="5220072" y="901337"/>
            <a:ext cx="2554763" cy="369332"/>
          </a:xfrm>
          <a:prstGeom prst="rect">
            <a:avLst/>
          </a:prstGeom>
          <a:noFill/>
        </p:spPr>
        <p:txBody>
          <a:bodyPr wrap="square" rtlCol="0">
            <a:spAutoFit/>
          </a:bodyPr>
          <a:lstStyle/>
          <a:p>
            <a:r>
              <a:rPr lang="en-US" b="1" dirty="0">
                <a:latin typeface="Montserrat Black" panose="00000A00000000000000" pitchFamily="2" charset="0"/>
              </a:rPr>
              <a:t>IMPLEMENTATION</a:t>
            </a:r>
            <a:endParaRPr lang="en-US" dirty="0">
              <a:latin typeface="Montserrat Black" panose="00000A00000000000000" pitchFamily="2" charset="0"/>
            </a:endParaRPr>
          </a:p>
        </p:txBody>
      </p:sp>
      <p:sp>
        <p:nvSpPr>
          <p:cNvPr id="7" name="TextBox 6">
            <a:extLst>
              <a:ext uri="{FF2B5EF4-FFF2-40B4-BE49-F238E27FC236}">
                <a16:creationId xmlns:a16="http://schemas.microsoft.com/office/drawing/2014/main" xmlns="" id="{CAE7F73F-FCF8-F4DF-8D9C-271E669B5C1E}"/>
              </a:ext>
            </a:extLst>
          </p:cNvPr>
          <p:cNvSpPr txBox="1"/>
          <p:nvPr/>
        </p:nvSpPr>
        <p:spPr>
          <a:xfrm>
            <a:off x="4427984" y="1347614"/>
            <a:ext cx="4392488" cy="3970318"/>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The entire implementation was conducted within a robust computational environment designed to facilitate data-intensive machine learning tasks. The primary programming language utilized was Python, version 3.x, renowned for its extensive ecosystem of scientific computing and machine learning libraries. Key libraries instrumental to this project included Pandas for efficient data manipulation and analysis, particularly in handling time-series data structures, and NumPy for high-performance numerical operations. </a:t>
            </a:r>
          </a:p>
          <a:p>
            <a:pPr algn="just"/>
            <a:endParaRPr lang="en-US" dirty="0"/>
          </a:p>
        </p:txBody>
      </p:sp>
      <p:pic>
        <p:nvPicPr>
          <p:cNvPr id="8" name="Picture 7">
            <a:extLst>
              <a:ext uri="{FF2B5EF4-FFF2-40B4-BE49-F238E27FC236}">
                <a16:creationId xmlns:a16="http://schemas.microsoft.com/office/drawing/2014/main" xmlns="" id="{B2F73DA1-AC95-D187-893E-603CEE2D2FBF}"/>
              </a:ext>
            </a:extLst>
          </p:cNvPr>
          <p:cNvPicPr>
            <a:picLocks noChangeAspect="1"/>
          </p:cNvPicPr>
          <p:nvPr/>
        </p:nvPicPr>
        <p:blipFill>
          <a:blip r:embed="rId3"/>
          <a:stretch>
            <a:fillRect/>
          </a:stretch>
        </p:blipFill>
        <p:spPr>
          <a:xfrm>
            <a:off x="107504" y="1779662"/>
            <a:ext cx="4282955" cy="2670210"/>
          </a:xfrm>
          <a:prstGeom prst="rect">
            <a:avLst/>
          </a:prstGeom>
        </p:spPr>
      </p:pic>
    </p:spTree>
    <p:extLst>
      <p:ext uri="{BB962C8B-B14F-4D97-AF65-F5344CB8AC3E}">
        <p14:creationId xmlns:p14="http://schemas.microsoft.com/office/powerpoint/2010/main" val="2852033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1059582"/>
            <a:ext cx="8640960" cy="830997"/>
          </a:xfrm>
          <a:prstGeom prst="rect">
            <a:avLst/>
          </a:prstGeom>
          <a:noFill/>
        </p:spPr>
        <p:txBody>
          <a:bodyPr wrap="square" rtlCol="0">
            <a:spAutoFit/>
          </a:bodyPr>
          <a:lstStyle/>
          <a:p>
            <a:r>
              <a:rPr lang="en-US" sz="2400" b="1" dirty="0"/>
              <a:t>Snapshot showing output of dataset after preprocessing and feature engineering.</a:t>
            </a:r>
            <a:endParaRPr lang="en-US" sz="2400" dirty="0"/>
          </a:p>
        </p:txBody>
      </p:sp>
      <p:pic>
        <p:nvPicPr>
          <p:cNvPr id="5" name="Picture 3" descr="C:\Users\Techgwolo\Downloads\app-view.cb6d45c43bcf89257771.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p:nvPr/>
        </p:nvPicPr>
        <p:blipFill>
          <a:blip r:embed="rId3"/>
          <a:stretch>
            <a:fillRect/>
          </a:stretch>
        </p:blipFill>
        <p:spPr>
          <a:xfrm>
            <a:off x="3563888" y="1563638"/>
            <a:ext cx="4625351" cy="3579862"/>
          </a:xfrm>
          <a:prstGeom prst="rect">
            <a:avLst/>
          </a:prstGeom>
        </p:spPr>
      </p:pic>
    </p:spTree>
    <p:extLst>
      <p:ext uri="{BB962C8B-B14F-4D97-AF65-F5344CB8AC3E}">
        <p14:creationId xmlns:p14="http://schemas.microsoft.com/office/powerpoint/2010/main" val="8207706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CEF5A83E-45B5-18BC-A4D0-C65040D48647}"/>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E249903A-50F7-0617-423A-F92BE09F1BB5}"/>
              </a:ext>
            </a:extLst>
          </p:cNvPr>
          <p:cNvSpPr txBox="1"/>
          <p:nvPr/>
        </p:nvSpPr>
        <p:spPr>
          <a:xfrm>
            <a:off x="251520" y="1059582"/>
            <a:ext cx="8640960" cy="369332"/>
          </a:xfrm>
          <a:prstGeom prst="rect">
            <a:avLst/>
          </a:prstGeom>
          <a:noFill/>
        </p:spPr>
        <p:txBody>
          <a:bodyPr wrap="square" rtlCol="0">
            <a:spAutoFit/>
          </a:bodyPr>
          <a:lstStyle/>
          <a:p>
            <a:r>
              <a:rPr lang="en-US" b="1" dirty="0">
                <a:latin typeface="Montserrat Black" panose="00000A00000000000000" pitchFamily="2" charset="0"/>
              </a:rPr>
              <a:t>Model Selection and Implementation</a:t>
            </a:r>
            <a:endParaRPr lang="en-US" dirty="0">
              <a:latin typeface="Montserrat Black" panose="00000A00000000000000" pitchFamily="2" charset="0"/>
            </a:endParaRPr>
          </a:p>
        </p:txBody>
      </p:sp>
      <p:sp>
        <p:nvSpPr>
          <p:cNvPr id="6" name="TextBox 5">
            <a:extLst>
              <a:ext uri="{FF2B5EF4-FFF2-40B4-BE49-F238E27FC236}">
                <a16:creationId xmlns:a16="http://schemas.microsoft.com/office/drawing/2014/main" xmlns="" id="{A1C9B535-F7CC-C9C2-07E0-F24664629EEF}"/>
              </a:ext>
            </a:extLst>
          </p:cNvPr>
          <p:cNvSpPr txBox="1"/>
          <p:nvPr/>
        </p:nvSpPr>
        <p:spPr>
          <a:xfrm>
            <a:off x="251520" y="1521247"/>
            <a:ext cx="8640960" cy="313932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modeling phase adopts a dual-track approach, developing both Random Forest and ARIMA models in parallel to enable comprehensive comparison.</a:t>
            </a:r>
          </a:p>
          <a:p>
            <a:endParaRPr lang="en-US" dirty="0"/>
          </a:p>
          <a:p>
            <a:r>
              <a:rPr lang="en-US" sz="1600" b="1" dirty="0">
                <a:latin typeface="Montserrat Black" panose="00000A00000000000000" pitchFamily="2" charset="0"/>
              </a:rPr>
              <a:t>Random Forest Regressor: A Critical Explanation</a:t>
            </a:r>
            <a:endParaRPr lang="en-US" sz="1600" dirty="0">
              <a:latin typeface="Montserrat Black" panose="00000A00000000000000" pitchFamily="2" charset="0"/>
            </a:endParaRPr>
          </a:p>
          <a:p>
            <a:pPr algn="just"/>
            <a:r>
              <a:rPr lang="en-US" dirty="0">
                <a:latin typeface="Times New Roman" panose="02020603050405020304" pitchFamily="18" charset="0"/>
                <a:cs typeface="Times New Roman" panose="02020603050405020304" pitchFamily="18" charset="0"/>
              </a:rPr>
              <a:t>The Random Forest (RF) algorithm, proposed by Leo </a:t>
            </a:r>
            <a:r>
              <a:rPr lang="en-US" dirty="0" err="1">
                <a:latin typeface="Times New Roman" panose="02020603050405020304" pitchFamily="18" charset="0"/>
                <a:cs typeface="Times New Roman" panose="02020603050405020304" pitchFamily="18" charset="0"/>
              </a:rPr>
              <a:t>Breiman</a:t>
            </a:r>
            <a:r>
              <a:rPr lang="en-US" dirty="0">
                <a:latin typeface="Times New Roman" panose="02020603050405020304" pitchFamily="18" charset="0"/>
                <a:cs typeface="Times New Roman" panose="02020603050405020304" pitchFamily="18" charset="0"/>
              </a:rPr>
              <a:t> (2001), is a powerful ensemble learning method capable of both regression and classification tasks. For regression, it operates by constructing a multitude of decision trees during the training phase and subsequently outputs the mean prediction of these individual trees. This approach makes Random Forest particularly well-suited for stock price prediction due to its inherent advantages in handling the complexities of financial data.</a:t>
            </a:r>
          </a:p>
          <a:p>
            <a:endParaRPr lang="en-US" dirty="0"/>
          </a:p>
        </p:txBody>
      </p:sp>
    </p:spTree>
    <p:extLst>
      <p:ext uri="{BB962C8B-B14F-4D97-AF65-F5344CB8AC3E}">
        <p14:creationId xmlns:p14="http://schemas.microsoft.com/office/powerpoint/2010/main" val="22373820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C6E764D2-C5CE-A94B-EAD8-827FFFFBC63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p:nvPr/>
        </p:nvPicPr>
        <p:blipFill>
          <a:blip r:embed="rId3"/>
          <a:stretch>
            <a:fillRect/>
          </a:stretch>
        </p:blipFill>
        <p:spPr>
          <a:xfrm>
            <a:off x="755576" y="1851670"/>
            <a:ext cx="7753053" cy="2857953"/>
          </a:xfrm>
          <a:prstGeom prst="rect">
            <a:avLst/>
          </a:prstGeom>
        </p:spPr>
      </p:pic>
      <p:sp>
        <p:nvSpPr>
          <p:cNvPr id="7" name="TextBox 6">
            <a:extLst>
              <a:ext uri="{FF2B5EF4-FFF2-40B4-BE49-F238E27FC236}">
                <a16:creationId xmlns:a16="http://schemas.microsoft.com/office/drawing/2014/main" xmlns="" id="{E249903A-50F7-0617-423A-F92BE09F1BB5}"/>
              </a:ext>
            </a:extLst>
          </p:cNvPr>
          <p:cNvSpPr txBox="1"/>
          <p:nvPr/>
        </p:nvSpPr>
        <p:spPr>
          <a:xfrm>
            <a:off x="251520" y="1059582"/>
            <a:ext cx="8640960" cy="369332"/>
          </a:xfrm>
          <a:prstGeom prst="rect">
            <a:avLst/>
          </a:prstGeom>
          <a:noFill/>
        </p:spPr>
        <p:txBody>
          <a:bodyPr wrap="square" rtlCol="0">
            <a:spAutoFit/>
          </a:bodyPr>
          <a:lstStyle/>
          <a:p>
            <a:r>
              <a:rPr lang="en-US" b="1" dirty="0" smtClean="0">
                <a:latin typeface="Montserrat Black" panose="00000A00000000000000" pitchFamily="2" charset="0"/>
              </a:rPr>
              <a:t>Snapshot </a:t>
            </a:r>
            <a:r>
              <a:rPr lang="en-US" b="1" dirty="0">
                <a:latin typeface="Montserrat Black" panose="00000A00000000000000" pitchFamily="2" charset="0"/>
              </a:rPr>
              <a:t>showing code snippet for data splitting.</a:t>
            </a:r>
            <a:endParaRPr lang="en-US" dirty="0">
              <a:latin typeface="Montserrat Black" panose="00000A00000000000000" pitchFamily="2" charset="0"/>
            </a:endParaRPr>
          </a:p>
        </p:txBody>
      </p:sp>
    </p:spTree>
    <p:extLst>
      <p:ext uri="{BB962C8B-B14F-4D97-AF65-F5344CB8AC3E}">
        <p14:creationId xmlns:p14="http://schemas.microsoft.com/office/powerpoint/2010/main" val="6653611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84410057-32D7-E39F-9BF5-0EB00362ECC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E249903A-50F7-0617-423A-F92BE09F1BB5}"/>
              </a:ext>
            </a:extLst>
          </p:cNvPr>
          <p:cNvSpPr txBox="1"/>
          <p:nvPr/>
        </p:nvSpPr>
        <p:spPr>
          <a:xfrm>
            <a:off x="251520" y="1059582"/>
            <a:ext cx="8640960" cy="646331"/>
          </a:xfrm>
          <a:prstGeom prst="rect">
            <a:avLst/>
          </a:prstGeom>
          <a:noFill/>
        </p:spPr>
        <p:txBody>
          <a:bodyPr wrap="square" rtlCol="0">
            <a:spAutoFit/>
          </a:bodyPr>
          <a:lstStyle/>
          <a:p>
            <a:r>
              <a:rPr lang="en-US" b="1" dirty="0">
                <a:latin typeface="Montserrat Black" panose="00000A00000000000000" pitchFamily="2" charset="0"/>
              </a:rPr>
              <a:t>Snapshot showing code snippet for Random Forest train and test implementation.</a:t>
            </a:r>
            <a:endParaRPr lang="en-US" dirty="0">
              <a:latin typeface="Montserrat Black" panose="00000A00000000000000" pitchFamily="2" charset="0"/>
            </a:endParaRPr>
          </a:p>
        </p:txBody>
      </p:sp>
      <p:pic>
        <p:nvPicPr>
          <p:cNvPr id="6" name="Picture 5"/>
          <p:cNvPicPr/>
          <p:nvPr/>
        </p:nvPicPr>
        <p:blipFill>
          <a:blip r:embed="rId3"/>
          <a:stretch>
            <a:fillRect/>
          </a:stretch>
        </p:blipFill>
        <p:spPr>
          <a:xfrm>
            <a:off x="1706245" y="1923678"/>
            <a:ext cx="5731510" cy="2586355"/>
          </a:xfrm>
          <a:prstGeom prst="rect">
            <a:avLst/>
          </a:prstGeom>
        </p:spPr>
      </p:pic>
    </p:spTree>
    <p:extLst>
      <p:ext uri="{BB962C8B-B14F-4D97-AF65-F5344CB8AC3E}">
        <p14:creationId xmlns:p14="http://schemas.microsoft.com/office/powerpoint/2010/main" val="41419618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84410057-32D7-E39F-9BF5-0EB00362ECC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E249903A-50F7-0617-423A-F92BE09F1BB5}"/>
              </a:ext>
            </a:extLst>
          </p:cNvPr>
          <p:cNvSpPr txBox="1"/>
          <p:nvPr/>
        </p:nvSpPr>
        <p:spPr>
          <a:xfrm>
            <a:off x="251520" y="1347614"/>
            <a:ext cx="8640960" cy="2677656"/>
          </a:xfrm>
          <a:prstGeom prst="rect">
            <a:avLst/>
          </a:prstGeom>
          <a:noFill/>
        </p:spPr>
        <p:txBody>
          <a:bodyPr wrap="square" rtlCol="0">
            <a:spAutoFit/>
          </a:bodyPr>
          <a:lstStyle/>
          <a:p>
            <a:r>
              <a:rPr lang="en-US" sz="2400" b="1" dirty="0"/>
              <a:t>Random Forest </a:t>
            </a:r>
            <a:r>
              <a:rPr lang="en-US" sz="2400" b="1" dirty="0" err="1"/>
              <a:t>Regressor</a:t>
            </a:r>
            <a:r>
              <a:rPr lang="en-US" sz="2400" b="1" dirty="0"/>
              <a:t> Performance</a:t>
            </a:r>
            <a:r>
              <a:rPr lang="en-US" sz="2400" b="1" dirty="0" smtClean="0"/>
              <a:t>:</a:t>
            </a:r>
          </a:p>
          <a:p>
            <a:endParaRPr lang="en-US" sz="2400" dirty="0"/>
          </a:p>
          <a:p>
            <a:r>
              <a:rPr lang="en-US" sz="2400" dirty="0"/>
              <a:t>Mean Absolute Error (MAE): </a:t>
            </a:r>
            <a:r>
              <a:rPr lang="en-US" sz="2400" dirty="0" smtClean="0"/>
              <a:t>36.3166</a:t>
            </a:r>
          </a:p>
          <a:p>
            <a:endParaRPr lang="en-US" sz="2400" dirty="0"/>
          </a:p>
          <a:p>
            <a:r>
              <a:rPr lang="en-US" sz="2400" dirty="0"/>
              <a:t>Root Mean Squared Error (RMSE): </a:t>
            </a:r>
            <a:r>
              <a:rPr lang="en-US" sz="2400" dirty="0" smtClean="0"/>
              <a:t>74.6587</a:t>
            </a:r>
          </a:p>
          <a:p>
            <a:endParaRPr lang="en-US" sz="2400" dirty="0"/>
          </a:p>
          <a:p>
            <a:r>
              <a:rPr lang="en-US" sz="2400" dirty="0"/>
              <a:t>Mean Absolute Percentage Error (MAPE): 2.5862%</a:t>
            </a:r>
          </a:p>
        </p:txBody>
      </p:sp>
    </p:spTree>
    <p:extLst>
      <p:ext uri="{BB962C8B-B14F-4D97-AF65-F5344CB8AC3E}">
        <p14:creationId xmlns:p14="http://schemas.microsoft.com/office/powerpoint/2010/main" val="32822714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C:\Users\Techgwolo\Downloads\app-view.cb6d45c43bcf89257771.png">
            <a:extLst>
              <a:ext uri="{FF2B5EF4-FFF2-40B4-BE49-F238E27FC236}">
                <a16:creationId xmlns:a16="http://schemas.microsoft.com/office/drawing/2014/main" xmlns="" id="{84410057-32D7-E39F-9BF5-0EB00362ECC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E249903A-50F7-0617-423A-F92BE09F1BB5}"/>
              </a:ext>
            </a:extLst>
          </p:cNvPr>
          <p:cNvSpPr txBox="1"/>
          <p:nvPr/>
        </p:nvSpPr>
        <p:spPr>
          <a:xfrm>
            <a:off x="251520" y="1059582"/>
            <a:ext cx="8640960" cy="646331"/>
          </a:xfrm>
          <a:prstGeom prst="rect">
            <a:avLst/>
          </a:prstGeom>
          <a:noFill/>
        </p:spPr>
        <p:txBody>
          <a:bodyPr wrap="square" rtlCol="0">
            <a:spAutoFit/>
          </a:bodyPr>
          <a:lstStyle/>
          <a:p>
            <a:r>
              <a:rPr lang="en-US" b="1" dirty="0">
                <a:latin typeface="Montserrat Black" panose="00000A00000000000000" pitchFamily="2" charset="0"/>
              </a:rPr>
              <a:t>Snapshot showing output of actual vs. predicted close prices after Random Forest implementation.</a:t>
            </a:r>
            <a:endParaRPr lang="en-US" dirty="0">
              <a:latin typeface="Montserrat Black" panose="00000A00000000000000" pitchFamily="2" charset="0"/>
            </a:endParaRPr>
          </a:p>
        </p:txBody>
      </p:sp>
      <p:pic>
        <p:nvPicPr>
          <p:cNvPr id="12" name="Picture 11"/>
          <p:cNvPicPr/>
          <p:nvPr/>
        </p:nvPicPr>
        <p:blipFill>
          <a:blip r:embed="rId3"/>
          <a:stretch>
            <a:fillRect/>
          </a:stretch>
        </p:blipFill>
        <p:spPr>
          <a:xfrm>
            <a:off x="1706245" y="1995686"/>
            <a:ext cx="5731510" cy="2985135"/>
          </a:xfrm>
          <a:prstGeom prst="rect">
            <a:avLst/>
          </a:prstGeom>
        </p:spPr>
      </p:pic>
    </p:spTree>
    <p:extLst>
      <p:ext uri="{BB962C8B-B14F-4D97-AF65-F5344CB8AC3E}">
        <p14:creationId xmlns:p14="http://schemas.microsoft.com/office/powerpoint/2010/main" val="24347096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84410057-32D7-E39F-9BF5-0EB00362ECC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E249903A-50F7-0617-423A-F92BE09F1BB5}"/>
              </a:ext>
            </a:extLst>
          </p:cNvPr>
          <p:cNvSpPr txBox="1"/>
          <p:nvPr/>
        </p:nvSpPr>
        <p:spPr>
          <a:xfrm>
            <a:off x="251520" y="1059582"/>
            <a:ext cx="8640960" cy="369332"/>
          </a:xfrm>
          <a:prstGeom prst="rect">
            <a:avLst/>
          </a:prstGeom>
          <a:noFill/>
        </p:spPr>
        <p:txBody>
          <a:bodyPr wrap="square" rtlCol="0">
            <a:spAutoFit/>
          </a:bodyPr>
          <a:lstStyle/>
          <a:p>
            <a:r>
              <a:rPr lang="en-US" b="1" dirty="0">
                <a:latin typeface="Montserrat Black" panose="00000A00000000000000" pitchFamily="2" charset="0"/>
              </a:rPr>
              <a:t>ARIMA Model Implementation</a:t>
            </a:r>
            <a:endParaRPr lang="en-US" dirty="0">
              <a:latin typeface="Montserrat Black" panose="00000A00000000000000" pitchFamily="2" charset="0"/>
            </a:endParaRPr>
          </a:p>
        </p:txBody>
      </p:sp>
      <p:pic>
        <p:nvPicPr>
          <p:cNvPr id="7" name="Picture 6"/>
          <p:cNvPicPr/>
          <p:nvPr/>
        </p:nvPicPr>
        <p:blipFill>
          <a:blip r:embed="rId3"/>
          <a:stretch>
            <a:fillRect/>
          </a:stretch>
        </p:blipFill>
        <p:spPr>
          <a:xfrm>
            <a:off x="4499992" y="1399294"/>
            <a:ext cx="3851384" cy="3483856"/>
          </a:xfrm>
          <a:prstGeom prst="rect">
            <a:avLst/>
          </a:prstGeom>
        </p:spPr>
      </p:pic>
      <p:sp>
        <p:nvSpPr>
          <p:cNvPr id="8" name="TextBox 7">
            <a:extLst>
              <a:ext uri="{FF2B5EF4-FFF2-40B4-BE49-F238E27FC236}">
                <a16:creationId xmlns:a16="http://schemas.microsoft.com/office/drawing/2014/main" xmlns="" id="{E249903A-50F7-0617-423A-F92BE09F1BB5}"/>
              </a:ext>
            </a:extLst>
          </p:cNvPr>
          <p:cNvSpPr txBox="1"/>
          <p:nvPr/>
        </p:nvSpPr>
        <p:spPr>
          <a:xfrm>
            <a:off x="251520" y="2211710"/>
            <a:ext cx="4104456" cy="1477328"/>
          </a:xfrm>
          <a:prstGeom prst="rect">
            <a:avLst/>
          </a:prstGeom>
          <a:noFill/>
        </p:spPr>
        <p:txBody>
          <a:bodyPr wrap="square" rtlCol="0">
            <a:spAutoFit/>
          </a:bodyPr>
          <a:lstStyle/>
          <a:p>
            <a:r>
              <a:rPr lang="en-US" b="1" dirty="0">
                <a:latin typeface="Montserrat Black" panose="00000A00000000000000" pitchFamily="2" charset="0"/>
              </a:rPr>
              <a:t>Snapshot showing code snippet used to obtain p, d and q values using the augmented Dickey-Fuller test to check stationarity of data.</a:t>
            </a:r>
            <a:endParaRPr lang="en-US" dirty="0">
              <a:latin typeface="Montserrat Black" panose="00000A00000000000000" pitchFamily="2" charset="0"/>
            </a:endParaRPr>
          </a:p>
        </p:txBody>
      </p:sp>
    </p:spTree>
    <p:extLst>
      <p:ext uri="{BB962C8B-B14F-4D97-AF65-F5344CB8AC3E}">
        <p14:creationId xmlns:p14="http://schemas.microsoft.com/office/powerpoint/2010/main" val="37772857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84410057-32D7-E39F-9BF5-0EB00362ECC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E249903A-50F7-0617-423A-F92BE09F1BB5}"/>
              </a:ext>
            </a:extLst>
          </p:cNvPr>
          <p:cNvSpPr txBox="1"/>
          <p:nvPr/>
        </p:nvSpPr>
        <p:spPr>
          <a:xfrm>
            <a:off x="251520" y="1059582"/>
            <a:ext cx="8640960" cy="923330"/>
          </a:xfrm>
          <a:prstGeom prst="rect">
            <a:avLst/>
          </a:prstGeom>
          <a:noFill/>
        </p:spPr>
        <p:txBody>
          <a:bodyPr wrap="square" rtlCol="0">
            <a:spAutoFit/>
          </a:bodyPr>
          <a:lstStyle/>
          <a:p>
            <a:r>
              <a:rPr lang="en-US" b="1" dirty="0">
                <a:latin typeface="Montserrat Black" panose="00000A00000000000000" pitchFamily="2" charset="0"/>
              </a:rPr>
              <a:t>ARIMA Model </a:t>
            </a:r>
            <a:r>
              <a:rPr lang="en-US" b="1" dirty="0" smtClean="0">
                <a:latin typeface="Montserrat Black" panose="00000A00000000000000" pitchFamily="2" charset="0"/>
              </a:rPr>
              <a:t>Implementation</a:t>
            </a:r>
          </a:p>
          <a:p>
            <a:endParaRPr lang="en-US" b="1" dirty="0">
              <a:latin typeface="Montserrat Black" panose="00000A00000000000000" pitchFamily="2" charset="0"/>
            </a:endParaRPr>
          </a:p>
          <a:p>
            <a:r>
              <a:rPr lang="en-US" dirty="0">
                <a:latin typeface="Montserrat Black" panose="00000A00000000000000" pitchFamily="2" charset="0"/>
              </a:rPr>
              <a:t>Snapshot showing code to train the ARIMA model.</a:t>
            </a:r>
          </a:p>
        </p:txBody>
      </p:sp>
      <p:pic>
        <p:nvPicPr>
          <p:cNvPr id="8" name="Picture 7"/>
          <p:cNvPicPr/>
          <p:nvPr/>
        </p:nvPicPr>
        <p:blipFill>
          <a:blip r:embed="rId3"/>
          <a:stretch>
            <a:fillRect/>
          </a:stretch>
        </p:blipFill>
        <p:spPr>
          <a:xfrm>
            <a:off x="1403648" y="2499742"/>
            <a:ext cx="6419028" cy="2083098"/>
          </a:xfrm>
          <a:prstGeom prst="rect">
            <a:avLst/>
          </a:prstGeom>
        </p:spPr>
      </p:pic>
    </p:spTree>
    <p:extLst>
      <p:ext uri="{BB962C8B-B14F-4D97-AF65-F5344CB8AC3E}">
        <p14:creationId xmlns:p14="http://schemas.microsoft.com/office/powerpoint/2010/main" val="4055468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84410057-32D7-E39F-9BF5-0EB00362ECC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E249903A-50F7-0617-423A-F92BE09F1BB5}"/>
              </a:ext>
            </a:extLst>
          </p:cNvPr>
          <p:cNvSpPr txBox="1"/>
          <p:nvPr/>
        </p:nvSpPr>
        <p:spPr>
          <a:xfrm>
            <a:off x="251520" y="1059582"/>
            <a:ext cx="8640960" cy="369332"/>
          </a:xfrm>
          <a:prstGeom prst="rect">
            <a:avLst/>
          </a:prstGeom>
          <a:noFill/>
        </p:spPr>
        <p:txBody>
          <a:bodyPr wrap="square" rtlCol="0">
            <a:spAutoFit/>
          </a:bodyPr>
          <a:lstStyle/>
          <a:p>
            <a:r>
              <a:rPr lang="en-US" b="1" dirty="0">
                <a:latin typeface="Montserrat Black" panose="00000A00000000000000" pitchFamily="2" charset="0"/>
              </a:rPr>
              <a:t>Snapshot showing code to test and predict with the ARIMA model.</a:t>
            </a:r>
            <a:endParaRPr lang="en-US" dirty="0">
              <a:latin typeface="Montserrat Black" panose="00000A00000000000000" pitchFamily="2" charset="0"/>
            </a:endParaRPr>
          </a:p>
        </p:txBody>
      </p:sp>
      <p:pic>
        <p:nvPicPr>
          <p:cNvPr id="10" name="Picture 9"/>
          <p:cNvPicPr/>
          <p:nvPr/>
        </p:nvPicPr>
        <p:blipFill>
          <a:blip r:embed="rId3"/>
          <a:stretch>
            <a:fillRect/>
          </a:stretch>
        </p:blipFill>
        <p:spPr>
          <a:xfrm>
            <a:off x="251520" y="2067694"/>
            <a:ext cx="8560087" cy="1961252"/>
          </a:xfrm>
          <a:prstGeom prst="rect">
            <a:avLst/>
          </a:prstGeom>
        </p:spPr>
      </p:pic>
    </p:spTree>
    <p:extLst>
      <p:ext uri="{BB962C8B-B14F-4D97-AF65-F5344CB8AC3E}">
        <p14:creationId xmlns:p14="http://schemas.microsoft.com/office/powerpoint/2010/main" val="7895570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84410057-32D7-E39F-9BF5-0EB00362ECC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E249903A-50F7-0617-423A-F92BE09F1BB5}"/>
              </a:ext>
            </a:extLst>
          </p:cNvPr>
          <p:cNvSpPr txBox="1"/>
          <p:nvPr/>
        </p:nvSpPr>
        <p:spPr>
          <a:xfrm>
            <a:off x="251520" y="1347614"/>
            <a:ext cx="8640960" cy="3108543"/>
          </a:xfrm>
          <a:prstGeom prst="rect">
            <a:avLst/>
          </a:prstGeom>
          <a:noFill/>
        </p:spPr>
        <p:txBody>
          <a:bodyPr wrap="square" rtlCol="0">
            <a:spAutoFit/>
          </a:bodyPr>
          <a:lstStyle/>
          <a:p>
            <a:r>
              <a:rPr lang="en-US" sz="2800" b="1" dirty="0"/>
              <a:t>ARIMA Model Performance</a:t>
            </a:r>
            <a:r>
              <a:rPr lang="en-US" sz="2800" b="1" dirty="0" smtClean="0"/>
              <a:t>:</a:t>
            </a:r>
          </a:p>
          <a:p>
            <a:endParaRPr lang="en-US" sz="2800" dirty="0"/>
          </a:p>
          <a:p>
            <a:r>
              <a:rPr lang="en-US" sz="2800" dirty="0"/>
              <a:t>Mean Absolute Error (MAE): </a:t>
            </a:r>
            <a:r>
              <a:rPr lang="en-US" sz="2800" dirty="0" smtClean="0"/>
              <a:t>109.6851</a:t>
            </a:r>
          </a:p>
          <a:p>
            <a:endParaRPr lang="en-US" sz="2800" dirty="0"/>
          </a:p>
          <a:p>
            <a:r>
              <a:rPr lang="en-US" sz="2800" dirty="0"/>
              <a:t>Root Mean Squared Error (RMSE): </a:t>
            </a:r>
            <a:r>
              <a:rPr lang="en-US" sz="2800" dirty="0" smtClean="0"/>
              <a:t>155.1513</a:t>
            </a:r>
          </a:p>
          <a:p>
            <a:endParaRPr lang="en-US" sz="2800" dirty="0"/>
          </a:p>
          <a:p>
            <a:r>
              <a:rPr lang="en-US" sz="2800" dirty="0"/>
              <a:t>Mean Absolute Percentage Error (MAPE): 8.3420%</a:t>
            </a:r>
          </a:p>
        </p:txBody>
      </p:sp>
    </p:spTree>
    <p:extLst>
      <p:ext uri="{BB962C8B-B14F-4D97-AF65-F5344CB8AC3E}">
        <p14:creationId xmlns:p14="http://schemas.microsoft.com/office/powerpoint/2010/main" val="37843887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84410057-32D7-E39F-9BF5-0EB00362ECC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E249903A-50F7-0617-423A-F92BE09F1BB5}"/>
              </a:ext>
            </a:extLst>
          </p:cNvPr>
          <p:cNvSpPr txBox="1"/>
          <p:nvPr/>
        </p:nvSpPr>
        <p:spPr>
          <a:xfrm>
            <a:off x="251520" y="1059582"/>
            <a:ext cx="8640960" cy="646331"/>
          </a:xfrm>
          <a:prstGeom prst="rect">
            <a:avLst/>
          </a:prstGeom>
          <a:noFill/>
        </p:spPr>
        <p:txBody>
          <a:bodyPr wrap="square" rtlCol="0">
            <a:spAutoFit/>
          </a:bodyPr>
          <a:lstStyle/>
          <a:p>
            <a:r>
              <a:rPr lang="en-US" b="1" dirty="0">
                <a:latin typeface="Montserrat Black" panose="00000A00000000000000" pitchFamily="2" charset="0"/>
              </a:rPr>
              <a:t>Snapshot showing plot of Reliance Stock's actual close price and predicted close price after training and testing.</a:t>
            </a:r>
            <a:endParaRPr lang="en-US" dirty="0">
              <a:latin typeface="Montserrat Black" panose="00000A00000000000000" pitchFamily="2" charset="0"/>
            </a:endParaRPr>
          </a:p>
        </p:txBody>
      </p:sp>
      <p:pic>
        <p:nvPicPr>
          <p:cNvPr id="7" name="Picture 6"/>
          <p:cNvPicPr/>
          <p:nvPr/>
        </p:nvPicPr>
        <p:blipFill>
          <a:blip r:embed="rId3"/>
          <a:stretch>
            <a:fillRect/>
          </a:stretch>
        </p:blipFill>
        <p:spPr>
          <a:xfrm>
            <a:off x="1706245" y="1872908"/>
            <a:ext cx="5731510" cy="2985135"/>
          </a:xfrm>
          <a:prstGeom prst="rect">
            <a:avLst/>
          </a:prstGeom>
        </p:spPr>
      </p:pic>
    </p:spTree>
    <p:extLst>
      <p:ext uri="{BB962C8B-B14F-4D97-AF65-F5344CB8AC3E}">
        <p14:creationId xmlns:p14="http://schemas.microsoft.com/office/powerpoint/2010/main" val="41527906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FE6E227E-CB7A-0C19-D6C7-6A9AF912FE3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638579BD-9AB6-F747-4900-2720C5E6016B}"/>
              </a:ext>
            </a:extLst>
          </p:cNvPr>
          <p:cNvSpPr txBox="1"/>
          <p:nvPr/>
        </p:nvSpPr>
        <p:spPr>
          <a:xfrm>
            <a:off x="179512" y="1003538"/>
            <a:ext cx="8640960" cy="4016484"/>
          </a:xfrm>
          <a:prstGeom prst="rect">
            <a:avLst/>
          </a:prstGeom>
          <a:noFill/>
        </p:spPr>
        <p:txBody>
          <a:bodyPr wrap="square" rtlCol="0">
            <a:spAutoFit/>
          </a:bodyPr>
          <a:lstStyle/>
          <a:p>
            <a:r>
              <a:rPr lang="en-US" sz="1700" b="1" dirty="0"/>
              <a:t>Model Performance</a:t>
            </a:r>
            <a:endParaRPr lang="en-US" sz="1700" dirty="0"/>
          </a:p>
          <a:p>
            <a:r>
              <a:rPr lang="en-US" sz="1700" dirty="0"/>
              <a:t>Figure 4.22 presents the performance metrics for the Random Forest </a:t>
            </a:r>
            <a:r>
              <a:rPr lang="en-US" sz="1700" dirty="0" err="1"/>
              <a:t>Regressor</a:t>
            </a:r>
            <a:r>
              <a:rPr lang="en-US" sz="1700" dirty="0"/>
              <a:t> model, a powerful ensemble learning method used for forecasting. The results show a Mean Absolute Error (MAE) of 36.3166 and a Root Mean Squared Error (RMSE) of 74.6587. The MAE signifies that, on average, the model's predictions deviate from the actual stock prices by approximately 36.32 units. This metric is a straightforward and intuitive measure of the average forecasting error. The RMSE, however, provides a more nuanced view of the model's performance by heavily penalizing larger errors. The significant disparity between the MAE and RMSE (36.31 vs. 74.65) is particularly noteworthy. This large gap suggests that while the majority of the predictions are relatively accurate, the model makes a number of substantial errors on specific data points. In a stock market context, these larger errors could correspond to periods of high volatility, sudden market shifts, or flash crashes. I would interpret this as an indication that the Random Forest model, while generally effective, may struggle to predict outlier events or extreme price movements, which is a critical consideration for risk management and trading strategy development.</a:t>
            </a:r>
          </a:p>
        </p:txBody>
      </p:sp>
    </p:spTree>
    <p:extLst>
      <p:ext uri="{BB962C8B-B14F-4D97-AF65-F5344CB8AC3E}">
        <p14:creationId xmlns:p14="http://schemas.microsoft.com/office/powerpoint/2010/main" val="3408173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FE6E227E-CB7A-0C19-D6C7-6A9AF912FE3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638579BD-9AB6-F747-4900-2720C5E6016B}"/>
              </a:ext>
            </a:extLst>
          </p:cNvPr>
          <p:cNvSpPr txBox="1"/>
          <p:nvPr/>
        </p:nvSpPr>
        <p:spPr>
          <a:xfrm>
            <a:off x="179512" y="1003538"/>
            <a:ext cx="8640960" cy="4093428"/>
          </a:xfrm>
          <a:prstGeom prst="rect">
            <a:avLst/>
          </a:prstGeom>
          <a:noFill/>
        </p:spPr>
        <p:txBody>
          <a:bodyPr wrap="square" rtlCol="0">
            <a:spAutoFit/>
          </a:bodyPr>
          <a:lstStyle/>
          <a:p>
            <a:r>
              <a:rPr lang="en-US" sz="2000" dirty="0"/>
              <a:t>The Mean Absolute Percentage Error (MAPE) of 2.5862% is a highly significant metric for this research, as it provides a scale-independent measure of the model's predictive accuracy. This low MAPE value, approximately 2.59%, indicates that the model's predictions, on average, are very close to the actual values, deviating by only a small percentage. This metric is invaluable for comparing the Random Forest </a:t>
            </a:r>
            <a:r>
              <a:rPr lang="en-US" sz="2000" dirty="0" err="1"/>
              <a:t>Regressor's</a:t>
            </a:r>
            <a:r>
              <a:rPr lang="en-US" sz="2000" dirty="0"/>
              <a:t> performance to other models, such as the ARIMA model, which has a MAPE of 8.34% The stark difference in MAPE values (2.59% vs. 8.34%) suggests that the Random Forest </a:t>
            </a:r>
            <a:r>
              <a:rPr lang="en-US" sz="2000" dirty="0" err="1"/>
              <a:t>Regressor</a:t>
            </a:r>
            <a:r>
              <a:rPr lang="en-US" sz="2000" dirty="0"/>
              <a:t> demonstrates a substantially superior relative performance. The low MAPE suggests that the Random Forest </a:t>
            </a:r>
            <a:r>
              <a:rPr lang="en-US" sz="2000" dirty="0" err="1"/>
              <a:t>Regressor</a:t>
            </a:r>
            <a:r>
              <a:rPr lang="en-US" sz="2000" dirty="0"/>
              <a:t> is highly effective at capturing the complex, non-linear relationships within the stock market data, leading to more reliable and percentage-wise accurate forecasts, which is the ultimate goal of financial market prediction research.</a:t>
            </a:r>
          </a:p>
        </p:txBody>
      </p:sp>
    </p:spTree>
    <p:extLst>
      <p:ext uri="{BB962C8B-B14F-4D97-AF65-F5344CB8AC3E}">
        <p14:creationId xmlns:p14="http://schemas.microsoft.com/office/powerpoint/2010/main" val="8173117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FE6E227E-CB7A-0C19-D6C7-6A9AF912FE35}"/>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p:cNvGraphicFramePr>
            <a:graphicFrameLocks noGrp="1"/>
          </p:cNvGraphicFramePr>
          <p:nvPr>
            <p:extLst>
              <p:ext uri="{D42A27DB-BD31-4B8C-83A1-F6EECF244321}">
                <p14:modId xmlns:p14="http://schemas.microsoft.com/office/powerpoint/2010/main" val="2421605945"/>
              </p:ext>
            </p:extLst>
          </p:nvPr>
        </p:nvGraphicFramePr>
        <p:xfrm>
          <a:off x="611560" y="1995686"/>
          <a:ext cx="7751504" cy="2604451"/>
        </p:xfrm>
        <a:graphic>
          <a:graphicData uri="http://schemas.openxmlformats.org/drawingml/2006/table">
            <a:tbl>
              <a:tblPr firstRow="1" firstCol="1" bandRow="1">
                <a:tableStyleId>{5C22544A-7EE6-4342-B048-85BDC9FD1C3A}</a:tableStyleId>
              </a:tblPr>
              <a:tblGrid>
                <a:gridCol w="2439586"/>
                <a:gridCol w="2655959"/>
                <a:gridCol w="2655959"/>
              </a:tblGrid>
              <a:tr h="626161">
                <a:tc>
                  <a:txBody>
                    <a:bodyPr/>
                    <a:lstStyle/>
                    <a:p>
                      <a:pPr marL="0" marR="0" algn="just">
                        <a:lnSpc>
                          <a:spcPct val="200000"/>
                        </a:lnSpc>
                        <a:spcBef>
                          <a:spcPts val="0"/>
                        </a:spcBef>
                        <a:spcAft>
                          <a:spcPts val="0"/>
                        </a:spcAft>
                      </a:pPr>
                      <a:r>
                        <a:rPr lang="en-US" sz="2000" dirty="0">
                          <a:effectLst/>
                        </a:rPr>
                        <a:t>Evaluation Metrics</a:t>
                      </a:r>
                      <a:endParaRPr lang="en-US" sz="1800" dirty="0">
                        <a:effectLst/>
                        <a:latin typeface="Arial" panose="020B0604020202020204" pitchFamily="34" charset="0"/>
                        <a:ea typeface="Arial" panose="020B0604020202020204" pitchFamily="34" charset="0"/>
                      </a:endParaRPr>
                    </a:p>
                  </a:txBody>
                  <a:tcPr marL="68580" marR="68580" marT="0" marB="0"/>
                </a:tc>
                <a:tc>
                  <a:txBody>
                    <a:bodyPr/>
                    <a:lstStyle/>
                    <a:p>
                      <a:pPr marL="0" marR="0" algn="just">
                        <a:lnSpc>
                          <a:spcPct val="200000"/>
                        </a:lnSpc>
                        <a:spcBef>
                          <a:spcPts val="0"/>
                        </a:spcBef>
                        <a:spcAft>
                          <a:spcPts val="0"/>
                        </a:spcAft>
                      </a:pPr>
                      <a:r>
                        <a:rPr lang="en-US" sz="2000">
                          <a:effectLst/>
                        </a:rPr>
                        <a:t>Random Forest</a:t>
                      </a:r>
                      <a:endParaRPr lang="en-US" sz="1800">
                        <a:effectLst/>
                        <a:latin typeface="Arial" panose="020B0604020202020204" pitchFamily="34" charset="0"/>
                        <a:ea typeface="Arial" panose="020B0604020202020204" pitchFamily="34" charset="0"/>
                      </a:endParaRPr>
                    </a:p>
                  </a:txBody>
                  <a:tcPr marL="68580" marR="68580" marT="0" marB="0"/>
                </a:tc>
                <a:tc>
                  <a:txBody>
                    <a:bodyPr/>
                    <a:lstStyle/>
                    <a:p>
                      <a:pPr marL="0" marR="0" algn="just">
                        <a:lnSpc>
                          <a:spcPct val="200000"/>
                        </a:lnSpc>
                        <a:spcBef>
                          <a:spcPts val="0"/>
                        </a:spcBef>
                        <a:spcAft>
                          <a:spcPts val="0"/>
                        </a:spcAft>
                      </a:pPr>
                      <a:r>
                        <a:rPr lang="en-US" sz="2000">
                          <a:effectLst/>
                        </a:rPr>
                        <a:t>ARIMA</a:t>
                      </a:r>
                      <a:endParaRPr lang="en-US" sz="1800">
                        <a:effectLst/>
                        <a:latin typeface="Arial" panose="020B0604020202020204" pitchFamily="34" charset="0"/>
                        <a:ea typeface="Arial" panose="020B0604020202020204" pitchFamily="34" charset="0"/>
                      </a:endParaRPr>
                    </a:p>
                  </a:txBody>
                  <a:tcPr marL="68580" marR="68580" marT="0" marB="0"/>
                </a:tc>
              </a:tr>
              <a:tr h="659430">
                <a:tc>
                  <a:txBody>
                    <a:bodyPr/>
                    <a:lstStyle/>
                    <a:p>
                      <a:pPr marL="0" marR="0" algn="just">
                        <a:lnSpc>
                          <a:spcPct val="200000"/>
                        </a:lnSpc>
                        <a:spcBef>
                          <a:spcPts val="0"/>
                        </a:spcBef>
                        <a:spcAft>
                          <a:spcPts val="0"/>
                        </a:spcAft>
                      </a:pPr>
                      <a:r>
                        <a:rPr lang="en-US" sz="2000">
                          <a:effectLst/>
                        </a:rPr>
                        <a:t>MAE</a:t>
                      </a:r>
                      <a:endParaRPr lang="en-US" sz="1800">
                        <a:effectLst/>
                        <a:latin typeface="Arial" panose="020B0604020202020204" pitchFamily="34" charset="0"/>
                        <a:ea typeface="Arial" panose="020B0604020202020204" pitchFamily="34" charset="0"/>
                      </a:endParaRPr>
                    </a:p>
                  </a:txBody>
                  <a:tcPr marL="68580" marR="68580" marT="0" marB="0"/>
                </a:tc>
                <a:tc>
                  <a:txBody>
                    <a:bodyPr/>
                    <a:lstStyle/>
                    <a:p>
                      <a:pPr marL="0" marR="0" algn="just">
                        <a:lnSpc>
                          <a:spcPct val="200000"/>
                        </a:lnSpc>
                        <a:spcBef>
                          <a:spcPts val="0"/>
                        </a:spcBef>
                        <a:spcAft>
                          <a:spcPts val="0"/>
                        </a:spcAft>
                      </a:pPr>
                      <a:r>
                        <a:rPr lang="en-US" sz="2000">
                          <a:effectLst/>
                        </a:rPr>
                        <a:t>36.3166</a:t>
                      </a:r>
                      <a:endParaRPr lang="en-US" sz="1800">
                        <a:effectLst/>
                        <a:latin typeface="Arial" panose="020B0604020202020204" pitchFamily="34" charset="0"/>
                        <a:ea typeface="Arial" panose="020B0604020202020204" pitchFamily="34" charset="0"/>
                      </a:endParaRPr>
                    </a:p>
                  </a:txBody>
                  <a:tcPr marL="68580" marR="68580" marT="0" marB="0"/>
                </a:tc>
                <a:tc>
                  <a:txBody>
                    <a:bodyPr/>
                    <a:lstStyle/>
                    <a:p>
                      <a:pPr marL="0" marR="0" algn="just">
                        <a:lnSpc>
                          <a:spcPct val="200000"/>
                        </a:lnSpc>
                        <a:spcBef>
                          <a:spcPts val="0"/>
                        </a:spcBef>
                        <a:spcAft>
                          <a:spcPts val="0"/>
                        </a:spcAft>
                      </a:pPr>
                      <a:r>
                        <a:rPr lang="en-US" sz="2000">
                          <a:effectLst/>
                        </a:rPr>
                        <a:t>109.6851</a:t>
                      </a:r>
                      <a:endParaRPr lang="en-US" sz="1800">
                        <a:effectLst/>
                        <a:latin typeface="Arial" panose="020B0604020202020204" pitchFamily="34" charset="0"/>
                        <a:ea typeface="Arial" panose="020B0604020202020204" pitchFamily="34" charset="0"/>
                      </a:endParaRPr>
                    </a:p>
                  </a:txBody>
                  <a:tcPr marL="68580" marR="68580" marT="0" marB="0"/>
                </a:tc>
              </a:tr>
              <a:tr h="659430">
                <a:tc>
                  <a:txBody>
                    <a:bodyPr/>
                    <a:lstStyle/>
                    <a:p>
                      <a:pPr marL="0" marR="0" algn="just">
                        <a:lnSpc>
                          <a:spcPct val="200000"/>
                        </a:lnSpc>
                        <a:spcBef>
                          <a:spcPts val="0"/>
                        </a:spcBef>
                        <a:spcAft>
                          <a:spcPts val="0"/>
                        </a:spcAft>
                      </a:pPr>
                      <a:r>
                        <a:rPr lang="en-US" sz="2000">
                          <a:effectLst/>
                        </a:rPr>
                        <a:t>RSME</a:t>
                      </a:r>
                      <a:endParaRPr lang="en-US" sz="1800">
                        <a:effectLst/>
                        <a:latin typeface="Arial" panose="020B0604020202020204" pitchFamily="34" charset="0"/>
                        <a:ea typeface="Arial" panose="020B0604020202020204" pitchFamily="34" charset="0"/>
                      </a:endParaRPr>
                    </a:p>
                  </a:txBody>
                  <a:tcPr marL="68580" marR="68580" marT="0" marB="0"/>
                </a:tc>
                <a:tc>
                  <a:txBody>
                    <a:bodyPr/>
                    <a:lstStyle/>
                    <a:p>
                      <a:pPr marL="0" marR="0" algn="just">
                        <a:lnSpc>
                          <a:spcPct val="200000"/>
                        </a:lnSpc>
                        <a:spcBef>
                          <a:spcPts val="0"/>
                        </a:spcBef>
                        <a:spcAft>
                          <a:spcPts val="0"/>
                        </a:spcAft>
                      </a:pPr>
                      <a:r>
                        <a:rPr lang="en-US" sz="2000">
                          <a:effectLst/>
                        </a:rPr>
                        <a:t>74.6587</a:t>
                      </a:r>
                      <a:endParaRPr lang="en-US" sz="1800">
                        <a:effectLst/>
                        <a:latin typeface="Arial" panose="020B0604020202020204" pitchFamily="34" charset="0"/>
                        <a:ea typeface="Arial" panose="020B0604020202020204" pitchFamily="34" charset="0"/>
                      </a:endParaRPr>
                    </a:p>
                  </a:txBody>
                  <a:tcPr marL="68580" marR="68580" marT="0" marB="0"/>
                </a:tc>
                <a:tc>
                  <a:txBody>
                    <a:bodyPr/>
                    <a:lstStyle/>
                    <a:p>
                      <a:pPr marL="0" marR="0" algn="just">
                        <a:lnSpc>
                          <a:spcPct val="200000"/>
                        </a:lnSpc>
                        <a:spcBef>
                          <a:spcPts val="0"/>
                        </a:spcBef>
                        <a:spcAft>
                          <a:spcPts val="0"/>
                        </a:spcAft>
                      </a:pPr>
                      <a:r>
                        <a:rPr lang="en-US" sz="2000">
                          <a:effectLst/>
                        </a:rPr>
                        <a:t>155.1513</a:t>
                      </a:r>
                      <a:endParaRPr lang="en-US" sz="1800">
                        <a:effectLst/>
                        <a:latin typeface="Arial" panose="020B0604020202020204" pitchFamily="34" charset="0"/>
                        <a:ea typeface="Arial" panose="020B0604020202020204" pitchFamily="34" charset="0"/>
                      </a:endParaRPr>
                    </a:p>
                  </a:txBody>
                  <a:tcPr marL="68580" marR="68580" marT="0" marB="0"/>
                </a:tc>
              </a:tr>
              <a:tr h="659430">
                <a:tc>
                  <a:txBody>
                    <a:bodyPr/>
                    <a:lstStyle/>
                    <a:p>
                      <a:pPr marL="0" marR="0" algn="just">
                        <a:lnSpc>
                          <a:spcPct val="200000"/>
                        </a:lnSpc>
                        <a:spcBef>
                          <a:spcPts val="0"/>
                        </a:spcBef>
                        <a:spcAft>
                          <a:spcPts val="0"/>
                        </a:spcAft>
                      </a:pPr>
                      <a:r>
                        <a:rPr lang="en-US" sz="2000">
                          <a:effectLst/>
                        </a:rPr>
                        <a:t>MAPE</a:t>
                      </a:r>
                      <a:endParaRPr lang="en-US" sz="1800">
                        <a:effectLst/>
                        <a:latin typeface="Arial" panose="020B0604020202020204" pitchFamily="34" charset="0"/>
                        <a:ea typeface="Arial" panose="020B0604020202020204" pitchFamily="34" charset="0"/>
                      </a:endParaRPr>
                    </a:p>
                  </a:txBody>
                  <a:tcPr marL="68580" marR="68580" marT="0" marB="0"/>
                </a:tc>
                <a:tc>
                  <a:txBody>
                    <a:bodyPr/>
                    <a:lstStyle/>
                    <a:p>
                      <a:pPr marL="0" marR="0" algn="just">
                        <a:lnSpc>
                          <a:spcPct val="200000"/>
                        </a:lnSpc>
                        <a:spcBef>
                          <a:spcPts val="0"/>
                        </a:spcBef>
                        <a:spcAft>
                          <a:spcPts val="0"/>
                        </a:spcAft>
                      </a:pPr>
                      <a:r>
                        <a:rPr lang="en-US" sz="2000">
                          <a:effectLst/>
                        </a:rPr>
                        <a:t>2.5862%</a:t>
                      </a:r>
                      <a:endParaRPr lang="en-US" sz="1800">
                        <a:effectLst/>
                        <a:latin typeface="Arial" panose="020B0604020202020204" pitchFamily="34" charset="0"/>
                        <a:ea typeface="Arial" panose="020B0604020202020204" pitchFamily="34" charset="0"/>
                      </a:endParaRPr>
                    </a:p>
                  </a:txBody>
                  <a:tcPr marL="68580" marR="68580" marT="0" marB="0"/>
                </a:tc>
                <a:tc>
                  <a:txBody>
                    <a:bodyPr/>
                    <a:lstStyle/>
                    <a:p>
                      <a:pPr marL="0" marR="0" algn="just">
                        <a:lnSpc>
                          <a:spcPct val="200000"/>
                        </a:lnSpc>
                        <a:spcBef>
                          <a:spcPts val="0"/>
                        </a:spcBef>
                        <a:spcAft>
                          <a:spcPts val="0"/>
                        </a:spcAft>
                      </a:pPr>
                      <a:r>
                        <a:rPr lang="en-US" sz="2000" dirty="0">
                          <a:effectLst/>
                        </a:rPr>
                        <a:t>8.3420%</a:t>
                      </a:r>
                      <a:endParaRPr lang="en-US" sz="1800" dirty="0">
                        <a:effectLst/>
                        <a:latin typeface="Arial" panose="020B0604020202020204" pitchFamily="34" charset="0"/>
                        <a:ea typeface="Arial" panose="020B0604020202020204" pitchFamily="34" charset="0"/>
                      </a:endParaRPr>
                    </a:p>
                  </a:txBody>
                  <a:tcPr marL="68580" marR="68580" marT="0" marB="0"/>
                </a:tc>
              </a:tr>
            </a:tbl>
          </a:graphicData>
        </a:graphic>
      </p:graphicFrame>
      <p:sp>
        <p:nvSpPr>
          <p:cNvPr id="7" name="TextBox 6">
            <a:extLst>
              <a:ext uri="{FF2B5EF4-FFF2-40B4-BE49-F238E27FC236}">
                <a16:creationId xmlns:a16="http://schemas.microsoft.com/office/drawing/2014/main" xmlns="" id="{E249903A-50F7-0617-423A-F92BE09F1BB5}"/>
              </a:ext>
            </a:extLst>
          </p:cNvPr>
          <p:cNvSpPr txBox="1"/>
          <p:nvPr/>
        </p:nvSpPr>
        <p:spPr>
          <a:xfrm>
            <a:off x="251520" y="1059582"/>
            <a:ext cx="8640960" cy="369332"/>
          </a:xfrm>
          <a:prstGeom prst="rect">
            <a:avLst/>
          </a:prstGeom>
          <a:noFill/>
        </p:spPr>
        <p:txBody>
          <a:bodyPr wrap="square" rtlCol="0">
            <a:spAutoFit/>
          </a:bodyPr>
          <a:lstStyle/>
          <a:p>
            <a:r>
              <a:rPr lang="en-US" b="1" dirty="0">
                <a:latin typeface="Montserrat Black" panose="00000A00000000000000" pitchFamily="2" charset="0"/>
              </a:rPr>
              <a:t>Evaluation Metrics of Random Forest and ARIMA</a:t>
            </a:r>
            <a:endParaRPr lang="en-US" dirty="0">
              <a:latin typeface="Montserrat Black" panose="00000A00000000000000" pitchFamily="2" charset="0"/>
            </a:endParaRPr>
          </a:p>
        </p:txBody>
      </p:sp>
    </p:spTree>
    <p:extLst>
      <p:ext uri="{BB962C8B-B14F-4D97-AF65-F5344CB8AC3E}">
        <p14:creationId xmlns:p14="http://schemas.microsoft.com/office/powerpoint/2010/main" val="11191903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ECBD236F-43E6-2909-37E6-07FE6F17E6C1}"/>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E8BF013B-C042-EEBA-2BD4-F35BD99B62DD}"/>
              </a:ext>
            </a:extLst>
          </p:cNvPr>
          <p:cNvSpPr txBox="1"/>
          <p:nvPr/>
        </p:nvSpPr>
        <p:spPr>
          <a:xfrm>
            <a:off x="287524" y="1203598"/>
            <a:ext cx="8568952" cy="3647665"/>
          </a:xfrm>
          <a:prstGeom prst="rect">
            <a:avLst/>
          </a:prstGeom>
          <a:noFill/>
        </p:spPr>
        <p:txBody>
          <a:bodyPr wrap="square">
            <a:spAutoFit/>
          </a:bodyPr>
          <a:lstStyle/>
          <a:p>
            <a:pPr algn="ctr"/>
            <a:r>
              <a:rPr lang="en-US" b="1" dirty="0">
                <a:latin typeface="Montserrat Black" panose="00000A00000000000000" pitchFamily="2" charset="0"/>
              </a:rPr>
              <a:t>SUMMARY</a:t>
            </a:r>
          </a:p>
          <a:p>
            <a:pPr algn="ctr"/>
            <a:endParaRPr lang="en-US" dirty="0">
              <a:latin typeface="Montserrat Black" panose="00000A00000000000000" pitchFamily="2" charset="0"/>
            </a:endParaRPr>
          </a:p>
          <a:p>
            <a:pPr algn="just"/>
            <a:r>
              <a:rPr lang="en-US" dirty="0">
                <a:latin typeface="Times New Roman" panose="02020603050405020304" pitchFamily="18" charset="0"/>
                <a:cs typeface="Times New Roman" panose="02020603050405020304" pitchFamily="18" charset="0"/>
              </a:rPr>
              <a:t>This research focuses on predicting stock market prices using machine learning, specifically the Random Forest algorithm. The work addresses the challenges of stock market volatility and unpredictability, aiming to provide a more effective method for forecasting prices than traditional approaches. The study compares the performance of the Random Forest model against the traditional statistical time-series model, Autoregressive Integrated Moving Average (ARIMA), to determine which is more suitable for stock market price prediction.</a:t>
            </a:r>
          </a:p>
          <a:p>
            <a:endParaRPr lang="en-US" dirty="0">
              <a:latin typeface="Times New Roman" panose="02020603050405020304" pitchFamily="18" charset="0"/>
              <a:cs typeface="Times New Roman" panose="02020603050405020304" pitchFamily="18" charset="0"/>
            </a:endParaRPr>
          </a:p>
          <a:p>
            <a:pPr marL="0" marR="0" algn="just">
              <a:lnSpc>
                <a:spcPct val="150000"/>
              </a:lnSpc>
              <a:buNone/>
            </a:pPr>
            <a:endParaRPr lang="en-US" sz="1600" dirty="0">
              <a:effectLst/>
              <a:latin typeface="Times New Roman" panose="02020603050405020304" pitchFamily="18" charset="0"/>
              <a:ea typeface="Arial" panose="020B0604020202020204" pitchFamily="34" charset="0"/>
              <a:cs typeface="Times New Roman" panose="02020603050405020304" pitchFamily="18" charset="0"/>
            </a:endParaRPr>
          </a:p>
          <a:p>
            <a:pPr marL="0" marR="0" algn="just">
              <a:lnSpc>
                <a:spcPct val="200000"/>
              </a:lnSpc>
              <a:buNone/>
            </a:pPr>
            <a:endParaRPr lang="en-US" sz="16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11578695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Techgwolo\Downloads\app-view.cb6d45c43bcf89257771.png">
            <a:extLst>
              <a:ext uri="{FF2B5EF4-FFF2-40B4-BE49-F238E27FC236}">
                <a16:creationId xmlns:a16="http://schemas.microsoft.com/office/drawing/2014/main" xmlns="" id="{5C93116D-DDC2-1152-70E1-37409BD69E06}"/>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xmlns="" id="{BCAA2F42-E9E3-3DE7-4DB5-5B51E591B688}"/>
              </a:ext>
            </a:extLst>
          </p:cNvPr>
          <p:cNvSpPr txBox="1"/>
          <p:nvPr/>
        </p:nvSpPr>
        <p:spPr>
          <a:xfrm>
            <a:off x="179512" y="1059582"/>
            <a:ext cx="8784976" cy="3970318"/>
          </a:xfrm>
          <a:prstGeom prst="rect">
            <a:avLst/>
          </a:prstGeom>
          <a:noFill/>
        </p:spPr>
        <p:txBody>
          <a:bodyPr wrap="square">
            <a:spAutoFit/>
          </a:bodyPr>
          <a:lstStyle/>
          <a:p>
            <a:pPr algn="ctr"/>
            <a:r>
              <a:rPr lang="en-US" sz="1800" b="1" dirty="0">
                <a:effectLst/>
                <a:latin typeface="Montserrat Black" panose="00000A00000000000000" pitchFamily="2" charset="0"/>
                <a:ea typeface="Times New Roman" panose="02020603050405020304" pitchFamily="18" charset="0"/>
              </a:rPr>
              <a:t>CONCLUSIONS</a:t>
            </a:r>
          </a:p>
          <a:p>
            <a:pPr algn="ctr"/>
            <a:endParaRPr lang="en-US" sz="1800" b="1" dirty="0">
              <a:effectLst/>
              <a:latin typeface="Montserrat Black" panose="00000A00000000000000" pitchFamily="2" charset="0"/>
              <a:ea typeface="Times New Roman" panose="02020603050405020304" pitchFamily="18" charset="0"/>
            </a:endParaRPr>
          </a:p>
          <a:p>
            <a:pPr algn="just"/>
            <a:r>
              <a:rPr lang="en-US" dirty="0"/>
              <a:t>While the study aims to suggest that Random Forest is superior to ARIMA for stock market prediction due to its ability to model non-linear patterns, the significant deviation between the predicted and actual prices shown in Figure 4.23 indicates a key limitation. This discrepancy suggests that the Random Forest model, as implemented, may not have been robust enough to capture the full complexity and inherent volatility of the stock market. The model's failure to accurately track the actual price movements could be a result of several factors, such as the chosen features not being comprehensive enough to represent all influential market dynamics, or the model's parameters not being optimally tuned. This highlights that while Random Forest is a powerful tool for time-series data, its effectiveness is highly dependent on the quality of the data and the careful configuration of the model.</a:t>
            </a:r>
          </a:p>
          <a:p>
            <a:pPr algn="ctr"/>
            <a:endParaRPr lang="en-US" sz="1800" b="1" dirty="0">
              <a:effectLst/>
              <a:latin typeface="Montserrat Black" panose="00000A00000000000000" pitchFamily="2" charset="0"/>
              <a:ea typeface="Times New Roman" panose="02020603050405020304" pitchFamily="18" charset="0"/>
            </a:endParaRPr>
          </a:p>
          <a:p>
            <a:endParaRPr lang="en-US" dirty="0">
              <a:latin typeface="Montserrat Black" panose="00000A00000000000000" pitchFamily="2" charset="0"/>
            </a:endParaRPr>
          </a:p>
        </p:txBody>
      </p:sp>
    </p:spTree>
    <p:extLst>
      <p:ext uri="{BB962C8B-B14F-4D97-AF65-F5344CB8AC3E}">
        <p14:creationId xmlns:p14="http://schemas.microsoft.com/office/powerpoint/2010/main" val="40655661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1059582"/>
            <a:ext cx="8640960" cy="461665"/>
          </a:xfrm>
          <a:prstGeom prst="rect">
            <a:avLst/>
          </a:prstGeom>
          <a:noFill/>
        </p:spPr>
        <p:txBody>
          <a:bodyPr wrap="square" rtlCol="0">
            <a:spAutoFit/>
          </a:bodyPr>
          <a:lstStyle/>
          <a:p>
            <a:r>
              <a:rPr lang="en-US" sz="2400" b="1" dirty="0">
                <a:latin typeface="Montserrat Black" panose="00000A00000000000000" pitchFamily="2" charset="0"/>
              </a:rPr>
              <a:t>Key Findings from Literature Review</a:t>
            </a:r>
            <a:endParaRPr lang="x-none" sz="2400" b="1" dirty="0">
              <a:latin typeface="Montserrat Black" panose="00000A00000000000000" pitchFamily="2" charset="0"/>
            </a:endParaRPr>
          </a:p>
        </p:txBody>
      </p:sp>
      <p:pic>
        <p:nvPicPr>
          <p:cNvPr id="5" name="Picture 3" descr="C:\Users\Techgwolo\Downloads\app-view.cb6d45c43bcf89257771.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51520" y="1563638"/>
            <a:ext cx="8640960" cy="3338735"/>
          </a:xfrm>
          <a:prstGeom prst="rect">
            <a:avLst/>
          </a:prstGeom>
          <a:noFill/>
        </p:spPr>
        <p:txBody>
          <a:bodyPr wrap="square" rtlCol="0">
            <a:spAutoFit/>
          </a:bodyPr>
          <a:lstStyle/>
          <a:p>
            <a:pPr>
              <a:lnSpc>
                <a:spcPct val="200000"/>
              </a:lnSpc>
            </a:pPr>
            <a:r>
              <a:rPr lang="en-US" b="1" dirty="0"/>
              <a:t>Why Random Forest?</a:t>
            </a:r>
            <a:endParaRPr lang="en-US" dirty="0"/>
          </a:p>
          <a:p>
            <a:pPr marL="285750" indent="-285750">
              <a:lnSpc>
                <a:spcPct val="200000"/>
              </a:lnSpc>
              <a:buFont typeface="Wingdings" panose="05000000000000000000" pitchFamily="2" charset="2"/>
              <a:buChar char="Ø"/>
            </a:pPr>
            <a:r>
              <a:rPr lang="en-US" dirty="0"/>
              <a:t>Ensemble models like Random Forest combine multiple decision trees to improve accuracy.</a:t>
            </a:r>
          </a:p>
          <a:p>
            <a:pPr marL="285750" indent="-285750">
              <a:lnSpc>
                <a:spcPct val="200000"/>
              </a:lnSpc>
              <a:buFont typeface="Wingdings" panose="05000000000000000000" pitchFamily="2" charset="2"/>
              <a:buChar char="Ø"/>
            </a:pPr>
            <a:r>
              <a:rPr lang="en-US" dirty="0"/>
              <a:t>They are robust to noise and outliers, which are common in financial data.</a:t>
            </a:r>
          </a:p>
          <a:p>
            <a:pPr marL="285750" indent="-285750">
              <a:lnSpc>
                <a:spcPct val="200000"/>
              </a:lnSpc>
              <a:buFont typeface="Wingdings" panose="05000000000000000000" pitchFamily="2" charset="2"/>
              <a:buChar char="Ø"/>
            </a:pPr>
            <a:r>
              <a:rPr lang="en-US" dirty="0"/>
              <a:t>They can identify important features, providing insight into which factors most influence stock prices.</a:t>
            </a:r>
          </a:p>
        </p:txBody>
      </p:sp>
    </p:spTree>
    <p:extLst>
      <p:ext uri="{BB962C8B-B14F-4D97-AF65-F5344CB8AC3E}">
        <p14:creationId xmlns:p14="http://schemas.microsoft.com/office/powerpoint/2010/main" val="16361325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915566"/>
            <a:ext cx="8640960" cy="461665"/>
          </a:xfrm>
          <a:prstGeom prst="rect">
            <a:avLst/>
          </a:prstGeom>
          <a:noFill/>
        </p:spPr>
        <p:txBody>
          <a:bodyPr wrap="square" rtlCol="0">
            <a:spAutoFit/>
          </a:bodyPr>
          <a:lstStyle/>
          <a:p>
            <a:r>
              <a:rPr lang="en-US" sz="2400" b="1" dirty="0">
                <a:latin typeface="Montserrat Black" panose="00000A00000000000000" pitchFamily="2" charset="0"/>
              </a:rPr>
              <a:t>Key Findings from Literature Review</a:t>
            </a:r>
            <a:endParaRPr lang="x-none" sz="2400" b="1" dirty="0">
              <a:latin typeface="Montserrat Black" panose="00000A00000000000000" pitchFamily="2" charset="0"/>
            </a:endParaRPr>
          </a:p>
        </p:txBody>
      </p:sp>
      <p:pic>
        <p:nvPicPr>
          <p:cNvPr id="5" name="Picture 3" descr="C:\Users\Techgwolo\Downloads\app-view.cb6d45c43bcf89257771.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5914" b="25310"/>
          <a:stretch/>
        </p:blipFill>
        <p:spPr bwMode="auto">
          <a:xfrm>
            <a:off x="0" y="0"/>
            <a:ext cx="9144000" cy="9013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51520" y="1419622"/>
            <a:ext cx="8640960" cy="3785652"/>
          </a:xfrm>
          <a:prstGeom prst="rect">
            <a:avLst/>
          </a:prstGeom>
          <a:noFill/>
        </p:spPr>
        <p:txBody>
          <a:bodyPr wrap="square" rtlCol="0">
            <a:spAutoFit/>
          </a:bodyPr>
          <a:lstStyle/>
          <a:p>
            <a:r>
              <a:rPr lang="en-US" sz="1200" dirty="0"/>
              <a:t>- Adnan, R. M., Yuan, X., Kisi, O., and </a:t>
            </a:r>
            <a:r>
              <a:rPr lang="en-US" sz="1200" dirty="0" err="1"/>
              <a:t>Curtef</a:t>
            </a:r>
            <a:r>
              <a:rPr lang="en-US" sz="1200" dirty="0"/>
              <a:t>, V. (2017). Application of time series models for streamflow forecasting. Civil and Environmental Research, 9(3), 56-63</a:t>
            </a:r>
            <a:r>
              <a:rPr lang="en-US" sz="1200" dirty="0" smtClean="0"/>
              <a:t>.</a:t>
            </a:r>
            <a:endParaRPr lang="en-US" sz="1200" dirty="0"/>
          </a:p>
          <a:p>
            <a:r>
              <a:rPr lang="en-US" sz="1200" dirty="0"/>
              <a:t>- </a:t>
            </a:r>
            <a:r>
              <a:rPr lang="en-US" sz="1200" dirty="0" err="1"/>
              <a:t>Ariyo</a:t>
            </a:r>
            <a:r>
              <a:rPr lang="en-US" sz="1200" dirty="0"/>
              <a:t>, A. A., </a:t>
            </a:r>
            <a:r>
              <a:rPr lang="en-US" sz="1200" dirty="0" err="1"/>
              <a:t>Adewumi</a:t>
            </a:r>
            <a:r>
              <a:rPr lang="en-US" sz="1200" dirty="0"/>
              <a:t>, A. O., and Ayo, C. K. (2014). Stock price prediction using the ARIMA model. </a:t>
            </a:r>
          </a:p>
          <a:p>
            <a:r>
              <a:rPr lang="en-US" sz="1200" dirty="0"/>
              <a:t>- Computer Modelling and Simulation (</a:t>
            </a:r>
            <a:r>
              <a:rPr lang="en-US" sz="1200" dirty="0" err="1"/>
              <a:t>UKSim</a:t>
            </a:r>
            <a:r>
              <a:rPr lang="en-US" sz="1200" dirty="0"/>
              <a:t>), </a:t>
            </a:r>
            <a:r>
              <a:rPr lang="en-US" sz="1200" dirty="0" err="1"/>
              <a:t>UKSim</a:t>
            </a:r>
            <a:r>
              <a:rPr lang="en-US" sz="1200" dirty="0"/>
              <a:t>-AMSS 16th International Conference, 106-112</a:t>
            </a:r>
            <a:r>
              <a:rPr lang="en-US" sz="1200" dirty="0" smtClean="0"/>
              <a:t>.</a:t>
            </a:r>
            <a:endParaRPr lang="en-US" sz="1200" dirty="0"/>
          </a:p>
          <a:p>
            <a:r>
              <a:rPr lang="en-US" sz="1200" dirty="0"/>
              <a:t>- </a:t>
            </a:r>
            <a:r>
              <a:rPr lang="en-US" sz="1200" dirty="0" err="1"/>
              <a:t>Awad</a:t>
            </a:r>
            <a:r>
              <a:rPr lang="en-US" sz="1200" dirty="0"/>
              <a:t>, A. L., </a:t>
            </a:r>
            <a:r>
              <a:rPr lang="en-US" sz="1200" dirty="0" err="1"/>
              <a:t>Elkaffas</a:t>
            </a:r>
            <a:r>
              <a:rPr lang="en-US" sz="1200" dirty="0"/>
              <a:t>, S. M., and </a:t>
            </a:r>
            <a:r>
              <a:rPr lang="en-US" sz="1200" dirty="0" err="1"/>
              <a:t>Fakhr</a:t>
            </a:r>
            <a:r>
              <a:rPr lang="en-US" sz="1200" dirty="0"/>
              <a:t>, M. W. (2023). Stock market prediction using deep reinforcement learning. Applied System Innovation, 6(6), 106</a:t>
            </a:r>
            <a:r>
              <a:rPr lang="en-US" sz="1200" dirty="0" smtClean="0"/>
              <a:t>.</a:t>
            </a:r>
            <a:endParaRPr lang="en-US" sz="1200" dirty="0"/>
          </a:p>
          <a:p>
            <a:r>
              <a:rPr lang="en-US" sz="1200" dirty="0"/>
              <a:t>- </a:t>
            </a:r>
            <a:r>
              <a:rPr lang="en-US" sz="1200" dirty="0" err="1"/>
              <a:t>Bahad</a:t>
            </a:r>
            <a:r>
              <a:rPr lang="en-US" sz="1200" dirty="0"/>
              <a:t>, P., &amp; </a:t>
            </a:r>
            <a:r>
              <a:rPr lang="en-US" sz="1200" dirty="0" err="1"/>
              <a:t>Saxena</a:t>
            </a:r>
            <a:r>
              <a:rPr lang="en-US" sz="1200" dirty="0"/>
              <a:t>, P. (2019, December). Study of </a:t>
            </a:r>
            <a:r>
              <a:rPr lang="en-US" sz="1200" dirty="0" err="1"/>
              <a:t>adaboost</a:t>
            </a:r>
            <a:r>
              <a:rPr lang="en-US" sz="1200" dirty="0"/>
              <a:t> and gradient boosting algorithms for predictive analytics. In International Conference on Intelligent Computing and Smart Communication 2019: Proceedings of ICSC 2019 (pp. 235-244). Singapore: Springer Singapore</a:t>
            </a:r>
            <a:r>
              <a:rPr lang="en-US" sz="1200" dirty="0" smtClean="0"/>
              <a:t>.</a:t>
            </a:r>
            <a:endParaRPr lang="en-US" sz="1200" dirty="0"/>
          </a:p>
          <a:p>
            <a:r>
              <a:rPr lang="en-US" sz="1200" dirty="0"/>
              <a:t>- Bansal, M., Goyal, A., and </a:t>
            </a:r>
            <a:r>
              <a:rPr lang="en-US" sz="1200" dirty="0" err="1"/>
              <a:t>Choudhary</a:t>
            </a:r>
            <a:r>
              <a:rPr lang="en-US" sz="1200" dirty="0"/>
              <a:t>, A. (2022). Stock market prediction with high accuracy using machine learning techniques. Procedia Computer Science, 215, 247-265</a:t>
            </a:r>
            <a:r>
              <a:rPr lang="en-US" sz="1200" dirty="0" smtClean="0"/>
              <a:t>.</a:t>
            </a:r>
            <a:endParaRPr lang="en-US" sz="1200" dirty="0"/>
          </a:p>
          <a:p>
            <a:r>
              <a:rPr lang="en-US" sz="1200" dirty="0"/>
              <a:t>- </a:t>
            </a:r>
            <a:r>
              <a:rPr lang="en-US" sz="1200" dirty="0" err="1"/>
              <a:t>Bengio</a:t>
            </a:r>
            <a:r>
              <a:rPr lang="en-US" sz="1200" dirty="0"/>
              <a:t>, Y. (2009). Learning deep architectures for AI. Foundations and trends® in Machine Learning, 2(1), 1-127</a:t>
            </a:r>
            <a:r>
              <a:rPr lang="en-US" sz="1200" dirty="0" smtClean="0"/>
              <a:t>.</a:t>
            </a:r>
            <a:endParaRPr lang="en-US" sz="1200" dirty="0"/>
          </a:p>
          <a:p>
            <a:r>
              <a:rPr lang="en-US" sz="1200" dirty="0"/>
              <a:t>- Bishop, C. M., &amp; </a:t>
            </a:r>
            <a:r>
              <a:rPr lang="en-US" sz="1200" dirty="0" err="1"/>
              <a:t>Nasrabadi</a:t>
            </a:r>
            <a:r>
              <a:rPr lang="en-US" sz="1200" dirty="0"/>
              <a:t>, N. M. (2006). Pattern recognition and machine learning (Vol. 4, No. 4, p. 738). New York: springer</a:t>
            </a:r>
            <a:r>
              <a:rPr lang="en-US" sz="1200" dirty="0" smtClean="0"/>
              <a:t>.</a:t>
            </a:r>
            <a:endParaRPr lang="en-US" sz="1200" dirty="0"/>
          </a:p>
          <a:p>
            <a:r>
              <a:rPr lang="en-US" sz="1200" dirty="0"/>
              <a:t>- </a:t>
            </a:r>
            <a:r>
              <a:rPr lang="en-US" sz="1200" dirty="0" err="1"/>
              <a:t>Breiman</a:t>
            </a:r>
            <a:r>
              <a:rPr lang="en-US" sz="1200" dirty="0"/>
              <a:t>, L. (1999). Using adaptive bagging to </a:t>
            </a:r>
            <a:r>
              <a:rPr lang="en-US" sz="1200" dirty="0" err="1"/>
              <a:t>debias</a:t>
            </a:r>
            <a:r>
              <a:rPr lang="en-US" sz="1200" dirty="0"/>
              <a:t> regressions (p. 16). Technical Report 547, Statistics Dept. UCB</a:t>
            </a:r>
            <a:r>
              <a:rPr lang="en-US" sz="1200" dirty="0" smtClean="0"/>
              <a:t>.</a:t>
            </a:r>
            <a:endParaRPr lang="en-US" sz="1200" dirty="0"/>
          </a:p>
          <a:p>
            <a:r>
              <a:rPr lang="en-US" sz="1200" dirty="0"/>
              <a:t>- </a:t>
            </a:r>
            <a:r>
              <a:rPr lang="en-US" sz="1200" dirty="0" err="1"/>
              <a:t>Breiman</a:t>
            </a:r>
            <a:r>
              <a:rPr lang="en-US" sz="1200" dirty="0"/>
              <a:t>, L. (2001). Random forests. Machine learning, 45(1), 5-32</a:t>
            </a:r>
            <a:r>
              <a:rPr lang="en-US" sz="1200" dirty="0" smtClean="0"/>
              <a:t>.</a:t>
            </a:r>
            <a:endParaRPr lang="en-US" sz="1200" dirty="0"/>
          </a:p>
          <a:p>
            <a:r>
              <a:rPr lang="en-US" sz="1200" dirty="0"/>
              <a:t>- Chen, T., &amp; </a:t>
            </a:r>
            <a:r>
              <a:rPr lang="en-US" sz="1200" dirty="0" err="1"/>
              <a:t>Guestrin</a:t>
            </a:r>
            <a:r>
              <a:rPr lang="en-US" sz="1200" dirty="0"/>
              <a:t>, C. (2016, August). </a:t>
            </a:r>
            <a:r>
              <a:rPr lang="en-US" sz="1200" dirty="0" err="1"/>
              <a:t>Xgboost</a:t>
            </a:r>
            <a:r>
              <a:rPr lang="en-US" sz="1200" dirty="0"/>
              <a:t>: A scalable tree boosting system. In Proceedings of the 22nd </a:t>
            </a:r>
            <a:r>
              <a:rPr lang="en-US" sz="1200" dirty="0" err="1"/>
              <a:t>acm</a:t>
            </a:r>
            <a:r>
              <a:rPr lang="en-US" sz="1200" dirty="0"/>
              <a:t> </a:t>
            </a:r>
            <a:r>
              <a:rPr lang="en-US" sz="1200" dirty="0" err="1"/>
              <a:t>sigkdd</a:t>
            </a:r>
            <a:r>
              <a:rPr lang="en-US" sz="1200" dirty="0"/>
              <a:t> international conference on knowledge discovery and data mining (pp. 785-794</a:t>
            </a:r>
            <a:r>
              <a:rPr lang="en-US" sz="1200" dirty="0" smtClean="0"/>
              <a:t>).</a:t>
            </a:r>
            <a:endParaRPr lang="en-US" sz="1200" dirty="0"/>
          </a:p>
          <a:p>
            <a:r>
              <a:rPr lang="en-US" sz="1200" dirty="0"/>
              <a:t>- </a:t>
            </a:r>
            <a:r>
              <a:rPr lang="en-US" sz="1200" dirty="0" err="1"/>
              <a:t>Chouksey</a:t>
            </a:r>
            <a:r>
              <a:rPr lang="en-US" sz="1200" dirty="0"/>
              <a:t>, S. (2019). Stock price prediction using time series models (Doctoral dissertation, Dublin Business School</a:t>
            </a:r>
            <a:r>
              <a:rPr lang="en-US" sz="1200" dirty="0" smtClean="0"/>
              <a:t>).</a:t>
            </a:r>
            <a:endParaRPr lang="en-US" sz="1200" dirty="0"/>
          </a:p>
          <a:p>
            <a:r>
              <a:rPr lang="en-US" sz="1200" dirty="0"/>
              <a:t>- </a:t>
            </a:r>
            <a:r>
              <a:rPr lang="en-US" sz="1200" dirty="0" err="1"/>
              <a:t>Devadoss</a:t>
            </a:r>
            <a:r>
              <a:rPr lang="en-US" sz="1200" dirty="0"/>
              <a:t>, A. V., and </a:t>
            </a:r>
            <a:r>
              <a:rPr lang="en-US" sz="1200" dirty="0" err="1"/>
              <a:t>Ligori</a:t>
            </a:r>
            <a:r>
              <a:rPr lang="en-US" sz="1200" dirty="0"/>
              <a:t>, T. A. A. (2013). Forecasting Of Stock Prices Using Multi Layer Perceptron. International journal of computing algorithm, 2(1), 440-449</a:t>
            </a:r>
            <a:r>
              <a:rPr lang="en-US" sz="1200" dirty="0" smtClean="0"/>
              <a:t>.</a:t>
            </a:r>
            <a:endParaRPr lang="en-US" sz="1200" dirty="0"/>
          </a:p>
        </p:txBody>
      </p:sp>
    </p:spTree>
    <p:extLst>
      <p:ext uri="{BB962C8B-B14F-4D97-AF65-F5344CB8AC3E}">
        <p14:creationId xmlns:p14="http://schemas.microsoft.com/office/powerpoint/2010/main" val="12531492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226</TotalTime>
  <Words>2421</Words>
  <Application>Microsoft Office PowerPoint</Application>
  <PresentationFormat>On-screen Show (16:9)</PresentationFormat>
  <Paragraphs>137</Paragraphs>
  <Slides>34</Slides>
  <Notes>0</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Confidence Moses</dc:creator>
  <cp:lastModifiedBy>ROCK MEDIA</cp:lastModifiedBy>
  <cp:revision>28</cp:revision>
  <dcterms:created xsi:type="dcterms:W3CDTF">2025-08-25T02:27:49Z</dcterms:created>
  <dcterms:modified xsi:type="dcterms:W3CDTF">2025-09-02T10:01:25Z</dcterms:modified>
</cp:coreProperties>
</file>